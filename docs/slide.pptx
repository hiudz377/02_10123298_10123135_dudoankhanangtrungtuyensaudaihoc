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14.fntdata" ContentType="application/x-fontdata"/>
  <Override PartName="/ppt/fonts/font15.fntdata" ContentType="application/x-fontdata"/>
  <Override PartName="/ppt/fonts/font16.fntdata" ContentType="application/x-fontdata"/>
  <Override PartName="/ppt/fonts/font17.fntdata" ContentType="application/x-fontdata"/>
  <Override PartName="/ppt/fonts/font18.fntdata" ContentType="application/x-fontdata"/>
  <Override PartName="/ppt/fonts/font19.fntdata" ContentType="application/x-fontdata"/>
  <Override PartName="/ppt/fonts/font2.fntdata" ContentType="application/x-fontdata"/>
  <Override PartName="/ppt/fonts/font20.fntdata" ContentType="application/x-fontdata"/>
  <Override PartName="/ppt/fonts/font21.fntdata" ContentType="application/x-fontdata"/>
  <Override PartName="/ppt/fonts/font2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12191365" cy="6858000"/>
  <p:notesSz cx="6858000" cy="12191365"/>
  <p:embeddedFontLst>
    <p:embeddedFont>
      <p:font typeface="Noto Sans Medium" panose="020B0502040504020204" pitchFamily="34" charset="0"/>
      <p:regular r:id="rId30"/>
    </p:embeddedFont>
    <p:embeddedFont>
      <p:font typeface="Noto Sans Medium" panose="020B0502040504020204" pitchFamily="34" charset="-122"/>
      <p:regular r:id="rId31"/>
    </p:embeddedFont>
    <p:embeddedFont>
      <p:font typeface="Noto Sans Medium" panose="020B0502040504020204" pitchFamily="34" charset="-120"/>
      <p:regular r:id="rId32"/>
    </p:embeddedFont>
    <p:embeddedFont>
      <p:font typeface="Calibri" panose="020F0502020204030204" charset="0"/>
      <p:regular r:id="rId33"/>
      <p:bold r:id="rId34"/>
      <p:italic r:id="rId35"/>
      <p:boldItalic r:id="rId36"/>
    </p:embeddedFont>
    <p:embeddedFont>
      <p:font typeface="Lexend Medium" pitchFamily="34" charset="0"/>
      <p:regular r:id="rId37"/>
    </p:embeddedFont>
    <p:embeddedFont>
      <p:font typeface="Lexend Medium" pitchFamily="34" charset="-122"/>
      <p:regular r:id="rId38"/>
    </p:embeddedFont>
    <p:embeddedFont>
      <p:font typeface="Lexend Medium" pitchFamily="34" charset="-120"/>
      <p:regular r:id="rId39"/>
    </p:embeddedFont>
    <p:embeddedFont>
      <p:font typeface="Consolas" panose="020B0609020204030204" pitchFamily="34" charset="0"/>
      <p:regular r:id="rId40"/>
      <p:bold r:id="rId41"/>
      <p:italic r:id="rId42"/>
      <p:boldItalic r:id="rId43"/>
    </p:embeddedFont>
    <p:embeddedFont>
      <p:font typeface="Consolas" panose="020B0609020204030204" pitchFamily="34" charset="-122"/>
      <p:regular r:id="rId44"/>
      <p:bold r:id="rId45"/>
      <p:italic r:id="rId46"/>
      <p:boldItalic r:id="rId47"/>
    </p:embeddedFont>
    <p:embeddedFont>
      <p:font typeface="Consolas" panose="020B0609020204030204" pitchFamily="34" charset="-120"/>
      <p:regular r:id="rId48"/>
      <p:bold r:id="rId49"/>
      <p:italic r:id="rId50"/>
      <p:boldItalic r:id="rId5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1" Type="http://schemas.openxmlformats.org/officeDocument/2006/relationships/font" Target="fonts/font22.fntdata"/><Relationship Id="rId50" Type="http://schemas.openxmlformats.org/officeDocument/2006/relationships/font" Target="fonts/font21.fntdata"/><Relationship Id="rId5" Type="http://schemas.openxmlformats.org/officeDocument/2006/relationships/slide" Target="slides/slide2.xml"/><Relationship Id="rId49" Type="http://schemas.openxmlformats.org/officeDocument/2006/relationships/font" Target="fonts/font20.fntdata"/><Relationship Id="rId48" Type="http://schemas.openxmlformats.org/officeDocument/2006/relationships/font" Target="fonts/font19.fntdata"/><Relationship Id="rId47" Type="http://schemas.openxmlformats.org/officeDocument/2006/relationships/font" Target="fonts/font18.fntdata"/><Relationship Id="rId46" Type="http://schemas.openxmlformats.org/officeDocument/2006/relationships/font" Target="fonts/font17.fntdata"/><Relationship Id="rId45" Type="http://schemas.openxmlformats.org/officeDocument/2006/relationships/font" Target="fonts/font16.fntdata"/><Relationship Id="rId44" Type="http://schemas.openxmlformats.org/officeDocument/2006/relationships/font" Target="fonts/font15.fntdata"/><Relationship Id="rId43" Type="http://schemas.openxmlformats.org/officeDocument/2006/relationships/font" Target="fonts/font14.fntdata"/><Relationship Id="rId42" Type="http://schemas.openxmlformats.org/officeDocument/2006/relationships/font" Target="fonts/font13.fntdata"/><Relationship Id="rId41" Type="http://schemas.openxmlformats.org/officeDocument/2006/relationships/font" Target="fonts/font12.fntdata"/><Relationship Id="rId40" Type="http://schemas.openxmlformats.org/officeDocument/2006/relationships/font" Target="fonts/font11.fntdata"/><Relationship Id="rId4" Type="http://schemas.openxmlformats.org/officeDocument/2006/relationships/notesMaster" Target="notesMasters/notesMaster1.xml"/><Relationship Id="rId39" Type="http://schemas.openxmlformats.org/officeDocument/2006/relationships/font" Target="fonts/font10.fntdata"/><Relationship Id="rId38" Type="http://schemas.openxmlformats.org/officeDocument/2006/relationships/font" Target="fonts/font9.fntdata"/><Relationship Id="rId37" Type="http://schemas.openxmlformats.org/officeDocument/2006/relationships/font" Target="fonts/font8.fntdata"/><Relationship Id="rId36" Type="http://schemas.openxmlformats.org/officeDocument/2006/relationships/font" Target="fonts/font7.fntdata"/><Relationship Id="rId35" Type="http://schemas.openxmlformats.org/officeDocument/2006/relationships/font" Target="fonts/font6.fntdata"/><Relationship Id="rId34" Type="http://schemas.openxmlformats.org/officeDocument/2006/relationships/font" Target="fonts/font5.fntdata"/><Relationship Id="rId33" Type="http://schemas.openxmlformats.org/officeDocument/2006/relationships/font" Target="fonts/font4.fntdata"/><Relationship Id="rId32" Type="http://schemas.openxmlformats.org/officeDocument/2006/relationships/font" Target="fonts/font3.fntdata"/><Relationship Id="rId31" Type="http://schemas.openxmlformats.org/officeDocument/2006/relationships/font" Target="fonts/font2.fntdata"/><Relationship Id="rId30" Type="http://schemas.openxmlformats.org/officeDocument/2006/relationships/font" Target="fonts/font1.fntdata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1582110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117575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DỰ ÁN MACHINE LEARNING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912416"/>
            <a:ext cx="10972526" cy="6425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4400" kern="100" spc="-22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Dự đoán khả năng trúng tuyển sau đại học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09585" y="1815306"/>
            <a:ext cx="11582110" cy="28446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Từ 400 hồ sơ Graduate Admission 2 đến mô hình hồi quy và ứng dụng web triển khai được.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09585" y="2385516"/>
            <a:ext cx="3620798" cy="38100"/>
          </a:xfrm>
          <a:prstGeom prst="roundRect">
            <a:avLst>
              <a:gd name="adj" fmla="val 49999"/>
            </a:avLst>
          </a:prstGeom>
          <a:solidFill>
            <a:srgbClr val="117575"/>
          </a:solidFill>
        </p:spPr>
      </p:sp>
      <p:sp>
        <p:nvSpPr>
          <p:cNvPr id="6" name="Text 4"/>
          <p:cNvSpPr/>
          <p:nvPr/>
        </p:nvSpPr>
        <p:spPr>
          <a:xfrm>
            <a:off x="609585" y="2709366"/>
            <a:ext cx="11582110" cy="28446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5 mô hình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· EDA có số liệu · Linear Regression được chọn · kiến trúc microservices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9585" y="3228777"/>
            <a:ext cx="11582110" cy="23108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626DD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Báo cáo dự án: dữ liệu, mô hình, đánh giá và sản phẩm.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6039989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666666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BÀI TOÁN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912416"/>
            <a:ext cx="5430404" cy="8763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00" kern="100" spc="-15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Ước tính Chance of Admit từ hồ sơ ứng viên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585" y="2049066"/>
            <a:ext cx="5430404" cy="246112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Đầu vào là 7 đặc trưng học thuật và hồ sơ: GRE Score, TOEFL Score, University Rating, SOP, LOR, CGPA, Research.</a:t>
            </a:r>
            <a:endParaRPr lang="en-US" sz="1600" dirty="0"/>
          </a:p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Đầu ra là xác suất trúng tuyển sau đại học, giữ ở dạng liên tục để người dùng đọc trực tiếp.</a:t>
            </a:r>
            <a:endParaRPr lang="en-US" sz="16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Bản chất: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bài toán hồi quy; cần dự đoán ổn định, sai số thấp và có thể đưa vào sản phẩm.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106663" y="0"/>
            <a:ext cx="5085032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6" name="Text 4"/>
          <p:cNvSpPr/>
          <p:nvPr/>
        </p:nvSpPr>
        <p:spPr>
          <a:xfrm>
            <a:off x="7716248" y="609600"/>
            <a:ext cx="4475447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FFFFFF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MỤC TIÊU ĐÁNH GIÁ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16248" y="1042591"/>
            <a:ext cx="3865863" cy="184011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So sánh MSE, RMSE, MAE và R² trên cùng bộ kiểm thử.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Giữ quy trình dễ tái lập từ notebook đến service.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Ưu tiên chất lượng đi cùng khả năng vận hành.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6431198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006B6B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TỔNG QUAN NỘI DUNG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912416"/>
            <a:ext cx="5821614" cy="4381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00" kern="100" spc="-15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Luồng trình bày của dự án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585" y="1610916"/>
            <a:ext cx="5821614" cy="225792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7000"/>
              </a:lnSpc>
              <a:buSzPct val="100000"/>
              <a:buFont typeface="+mj-lt"/>
              <a:buAutoNum type="arabicPeriod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Dataset và quy trình chuẩn bị dữ liệu.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Font typeface="+mj-lt"/>
              <a:buAutoNum type="arabicPeriod" startAt="2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5 góc nhìn EDA: phân bố, tương quan, CGPA, điểm thi và Research.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Font typeface="+mj-lt"/>
              <a:buAutoNum type="arabicPeriod" startAt="3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5 mô hình, nguyên lý, ưu/nhược điểm và đánh giá định lượng.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Font typeface="+mj-lt"/>
              <a:buAutoNum type="arabicPeriod" startAt="4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Lựa chọn Linear Regression cho triển khai.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Font typeface="+mj-lt"/>
              <a:buAutoNum type="arabicPeriod" startAt="5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App, Docker Compose, API và 3 cổng dịch vụ.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97873" y="0"/>
            <a:ext cx="4693822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6" name="Text 4"/>
          <p:cNvSpPr/>
          <p:nvPr/>
        </p:nvSpPr>
        <p:spPr>
          <a:xfrm>
            <a:off x="8107457" y="609600"/>
            <a:ext cx="4084238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FFFFFF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MẠCH LOGIC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107457" y="1042591"/>
            <a:ext cx="3474653" cy="8533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Hiểu dữ liệu</a:t>
            </a: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→ kiểm chứng tín hiệu → thử mô hình → chọn mô hình → đóng gói thành sản phẩm.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107457" y="2181721"/>
            <a:ext cx="1146543" cy="38100"/>
          </a:xfrm>
          <a:prstGeom prst="roundRect">
            <a:avLst>
              <a:gd name="adj" fmla="val 49999"/>
            </a:avLst>
          </a:prstGeom>
          <a:solidFill>
            <a:srgbClr val="FFFFFF"/>
          </a:solidFill>
        </p:spPr>
      </p:sp>
      <p:sp>
        <p:nvSpPr>
          <p:cNvPr id="9" name="Text 7"/>
          <p:cNvSpPr/>
          <p:nvPr/>
        </p:nvSpPr>
        <p:spPr>
          <a:xfrm>
            <a:off x="8107457" y="2505571"/>
            <a:ext cx="3474653" cy="69324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Mỗi phần trả lời một câu hỏi: dữ liệu nói gì, mô hình nào phù hợp, và người dùng gọi dự đoán ra sao?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6039989" cy="28446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DATASET · GRADUATE ADMISSION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09585" y="1341735"/>
            <a:ext cx="5430404" cy="8763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00" kern="100" spc="-15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Dữ liệu từ Kaggle: 500 hồ sơ, biến số rõ ràng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585" y="2478385"/>
            <a:ext cx="5430404" cy="568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Bộ dữ liệu gồm 500 mẫu; mỗi dòng là một ứng viên và mục tiêu là Chance of Admit.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609585" y="3282255"/>
          <a:ext cx="5430404" cy="1843538"/>
        </p:xfrm>
        <a:graphic>
          <a:graphicData uri="http://schemas.openxmlformats.org/drawingml/2006/table">
            <a:tbl>
              <a:tblPr/>
              <a:tblGrid>
                <a:gridCol w="2715152"/>
                <a:gridCol w="2715252"/>
              </a:tblGrid>
              <a:tr h="40629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Nhóm</a:t>
                      </a:r>
                      <a:endParaRPr lang="en-US" sz="13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Trường dữ liệu</a:t>
                      </a:r>
                      <a:endParaRPr lang="en-US" sz="13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29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Học thuật</a:t>
                      </a:r>
                      <a:endParaRPr lang="en-US" sz="13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GRE Score, TOEFL Score, CGPA</a:t>
                      </a:r>
                      <a:endParaRPr lang="en-US" sz="13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73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Hồ sơ</a:t>
                      </a:r>
                      <a:endParaRPr lang="en-US" sz="13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University Rating, SOP, LOR, Research</a:t>
                      </a:r>
                      <a:endParaRPr lang="en-US" sz="13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59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Mục tiêu</a:t>
                      </a:r>
                      <a:endParaRPr lang="en-US" sz="13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Chance of Admit</a:t>
                      </a:r>
                      <a:endParaRPr lang="en-US" sz="13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106663" y="0"/>
            <a:ext cx="5085032" cy="6858000"/>
          </a:xfrm>
          <a:prstGeom prst="rect">
            <a:avLst/>
          </a:prstGeom>
          <a:solidFill>
            <a:srgbClr val="15154C"/>
          </a:solidFill>
        </p:spPr>
      </p:sp>
      <p:sp>
        <p:nvSpPr>
          <p:cNvPr id="7" name="Text 4"/>
          <p:cNvSpPr/>
          <p:nvPr/>
        </p:nvSpPr>
        <p:spPr>
          <a:xfrm>
            <a:off x="7716248" y="609600"/>
            <a:ext cx="4475447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FFFFFF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ĐIỂM CẦN GIỮ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16248" y="1042591"/>
            <a:ext cx="3865863" cy="184011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Biến đầu vào có ý nghĩa trực tiếp với hồ sơ.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Research là biến nhị phân, giữ đúng ngữ nghĩa 0/1.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Thống kê mô tả và kiểm tra ngoại lệ đi trước modeling.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275" y="912495"/>
            <a:ext cx="6713220" cy="43414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29582" y="609600"/>
            <a:ext cx="5062113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117F80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EDA 1 · PHÂN BỐ TARGET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129582" y="912416"/>
            <a:ext cx="4452528" cy="131445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00" kern="100" spc="-15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Chance of Admit tập trung ở vùng xác suất trung bình - cao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129582" y="2487216"/>
            <a:ext cx="4452528" cy="331450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 lnSpcReduction="20000"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altLang="en-US" sz="1600" b="1" dirty="0"/>
              <a:t>Trực quan:</a:t>
            </a:r>
            <a:r>
              <a:rPr lang="en-US" altLang="en-US" sz="1600" dirty="0"/>
              <a:t> Biểu </a:t>
            </a:r>
            <a:r>
              <a:rPr lang="" altLang="en-US" sz="1600" dirty="0"/>
              <a:t>đ</a:t>
            </a:r>
            <a:r>
              <a:rPr lang="en-US" altLang="en-US" sz="1600" dirty="0"/>
              <a:t>ồ histogram kết hợp KDE cho thấy phân bố của tỷ lệ trúng tuyển có xu h</a:t>
            </a:r>
            <a:r>
              <a:rPr lang="" altLang="en-US" sz="1600" dirty="0"/>
              <a:t>ư</a:t>
            </a:r>
            <a:r>
              <a:rPr lang="en-US" altLang="en-US" sz="1600" dirty="0"/>
              <a:t>ớng hơi lệch trái, tập trung chủ yếu ở khoảng từ 0.6 </a:t>
            </a:r>
            <a:r>
              <a:rPr lang="" altLang="en-US" sz="1600" dirty="0"/>
              <a:t>đ</a:t>
            </a:r>
            <a:r>
              <a:rPr lang="en-US" altLang="en-US" sz="1600" dirty="0"/>
              <a:t>ến 0.85, ít hồ sơ có </a:t>
            </a:r>
            <a:r>
              <a:rPr lang="" altLang="en-US" sz="1600" dirty="0"/>
              <a:t>đ</a:t>
            </a:r>
            <a:r>
              <a:rPr lang="en-US" altLang="en-US" sz="1600" dirty="0"/>
              <a:t>iểm quá thấp d</a:t>
            </a:r>
            <a:r>
              <a:rPr lang="" altLang="en-US" sz="1600" dirty="0"/>
              <a:t>ư</a:t>
            </a:r>
            <a:r>
              <a:rPr lang="en-US" altLang="en-US" sz="1600" dirty="0"/>
              <a:t>ới 0.4 hoặc quá cao sát 1.0.</a:t>
            </a:r>
            <a:endParaRPr lang="en-US" altLang="en-US" sz="1600" dirty="0"/>
          </a:p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" altLang="en-US" sz="1600" b="1" dirty="0"/>
              <a:t>Ý </a:t>
            </a:r>
            <a:r>
              <a:rPr lang="en-US" altLang="en-US" sz="1600" b="1" dirty="0"/>
              <a:t>ngh</a:t>
            </a:r>
            <a:r>
              <a:rPr lang="" altLang="en-US" sz="1600" b="1" dirty="0"/>
              <a:t>ĩ</a:t>
            </a:r>
            <a:r>
              <a:rPr lang="en-US" altLang="en-US" sz="1600" b="1" dirty="0"/>
              <a:t>a với bài toán</a:t>
            </a:r>
            <a:r>
              <a:rPr lang="en-US" altLang="en-US" sz="1600" dirty="0"/>
              <a:t>: Giúp nhóm nhận diện </a:t>
            </a:r>
            <a:r>
              <a:rPr lang="" altLang="en-US" sz="1600" dirty="0"/>
              <a:t>đư</a:t>
            </a:r>
            <a:r>
              <a:rPr lang="en-US" altLang="en-US" sz="1600" dirty="0"/>
              <a:t>ợc khoảng giá trị phổ biến của cơ hội trúng tuyển.</a:t>
            </a:r>
            <a:endParaRPr lang="en-US" altLang="en-US" sz="1600" dirty="0"/>
          </a:p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altLang="en-US" sz="1600" b="1" dirty="0"/>
              <a:t>Quyết </a:t>
            </a:r>
            <a:r>
              <a:rPr lang="" altLang="en-US" sz="1600" b="1" dirty="0"/>
              <a:t>đ</a:t>
            </a:r>
            <a:r>
              <a:rPr lang="en-US" altLang="en-US" sz="1600" b="1" dirty="0"/>
              <a:t>ịnh xử l</a:t>
            </a:r>
            <a:r>
              <a:rPr lang="" altLang="en-US" sz="1600" b="1" dirty="0"/>
              <a:t>ý:</a:t>
            </a:r>
            <a:r>
              <a:rPr lang="" altLang="en-US" sz="1600" dirty="0"/>
              <a:t> </a:t>
            </a:r>
            <a:r>
              <a:rPr lang="en-US" altLang="en-US" sz="1600" dirty="0"/>
              <a:t>Vì </a:t>
            </a:r>
            <a:r>
              <a:rPr lang="" altLang="en-US" sz="1600" dirty="0"/>
              <a:t>đ</a:t>
            </a:r>
            <a:r>
              <a:rPr lang="en-US" altLang="en-US" sz="1600" dirty="0"/>
              <a:t>ây là bài toán hồi quy với biến mục tiêu liên tục, ta không cần biến </a:t>
            </a:r>
            <a:r>
              <a:rPr lang="" altLang="en-US" sz="1600" dirty="0"/>
              <a:t>đ</a:t>
            </a:r>
            <a:r>
              <a:rPr lang="en-US" altLang="en-US" sz="1600" dirty="0"/>
              <a:t>ổi log hay xử l</a:t>
            </a:r>
            <a:r>
              <a:rPr lang="" altLang="en-US" sz="1600" dirty="0"/>
              <a:t>ý </a:t>
            </a:r>
            <a:r>
              <a:rPr lang="en-US" altLang="en-US" sz="1600" dirty="0"/>
              <a:t>mất cân bằng phân phối quá phức tạp ở biến mục tiêu.</a:t>
            </a:r>
            <a:endParaRPr lang="en-US" alt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69545" y="415290"/>
            <a:ext cx="7223125" cy="64427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65802" y="415290"/>
            <a:ext cx="5062113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00676B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EDA 2 · MA TRẬN TƯƠNG QUAN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65802" y="990521"/>
            <a:ext cx="4452528" cy="8763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00" kern="100" spc="-15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CGPA, GRE và TOEFL là các tín hiệu nổi bật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365802" y="2409111"/>
            <a:ext cx="4452528" cy="23185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altLang="en-US" sz="1600" dirty="0"/>
              <a:t>Trực quan:Biểu </a:t>
            </a:r>
            <a:r>
              <a:rPr lang="" altLang="en-US" sz="1600" dirty="0"/>
              <a:t>đ</a:t>
            </a:r>
            <a:r>
              <a:rPr lang="en-US" altLang="en-US" sz="1600" dirty="0"/>
              <a:t>ồ thể hiện mức </a:t>
            </a:r>
            <a:r>
              <a:rPr lang="" altLang="en-US" sz="1600" dirty="0"/>
              <a:t>đ</a:t>
            </a:r>
            <a:r>
              <a:rPr lang="en-US" altLang="en-US" sz="1600" dirty="0"/>
              <a:t>ộ t</a:t>
            </a:r>
            <a:r>
              <a:rPr lang="" altLang="en-US" sz="1600" dirty="0"/>
              <a:t>ư</a:t>
            </a:r>
            <a:r>
              <a:rPr lang="en-US" altLang="en-US" sz="1600" dirty="0"/>
              <a:t>ơng quan tuyến tính giữa các cột. Cột CGPA 0.87, GRE Score 0.80 và TOEFL Score 0.79 có hệ số t</a:t>
            </a:r>
            <a:r>
              <a:rPr lang="" altLang="en-US" sz="1600" dirty="0"/>
              <a:t>ư</a:t>
            </a:r>
            <a:r>
              <a:rPr lang="en-US" altLang="en-US" sz="1600" dirty="0"/>
              <a:t>ơng quan rất cao với Chance of Admit.</a:t>
            </a:r>
            <a:endParaRPr lang="en-US" altLang="en-US" sz="1600" dirty="0"/>
          </a:p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" altLang="en-US" sz="1600" dirty="0"/>
              <a:t>Ý </a:t>
            </a:r>
            <a:r>
              <a:rPr lang="en-US" altLang="en-US" sz="1600" dirty="0"/>
              <a:t>ngh</a:t>
            </a:r>
            <a:r>
              <a:rPr lang="" altLang="en-US" sz="1600" dirty="0"/>
              <a:t>ĩ</a:t>
            </a:r>
            <a:r>
              <a:rPr lang="en-US" altLang="en-US" sz="1600" dirty="0"/>
              <a:t>a với bài toán: Xác </a:t>
            </a:r>
            <a:r>
              <a:rPr lang="" altLang="en-US" sz="1600" dirty="0"/>
              <a:t>đ</a:t>
            </a:r>
            <a:r>
              <a:rPr lang="en-US" altLang="en-US" sz="1600" dirty="0"/>
              <a:t>ịnh r</a:t>
            </a:r>
            <a:r>
              <a:rPr lang="" altLang="en-US" sz="1600" dirty="0"/>
              <a:t>õ </a:t>
            </a:r>
            <a:r>
              <a:rPr lang="en-US" altLang="en-US" sz="1600" dirty="0"/>
              <a:t>các </a:t>
            </a:r>
            <a:r>
              <a:rPr lang="" altLang="en-US" sz="1600" dirty="0"/>
              <a:t>đ</a:t>
            </a:r>
            <a:r>
              <a:rPr lang="en-US" altLang="en-US" sz="1600" dirty="0"/>
              <a:t>ặc tr</a:t>
            </a:r>
            <a:r>
              <a:rPr lang="" altLang="en-US" sz="1600" dirty="0"/>
              <a:t>ư</a:t>
            </a:r>
            <a:r>
              <a:rPr lang="en-US" altLang="en-US" sz="1600" dirty="0"/>
              <a:t>ng có sức nặng lớn nhất tác </a:t>
            </a:r>
            <a:r>
              <a:rPr lang="" altLang="en-US" sz="1600" dirty="0"/>
              <a:t>đ</a:t>
            </a:r>
            <a:r>
              <a:rPr lang="en-US" altLang="en-US" sz="1600" dirty="0"/>
              <a:t>ộng </a:t>
            </a:r>
            <a:r>
              <a:rPr lang="" altLang="en-US" sz="1600" dirty="0"/>
              <a:t>đ</a:t>
            </a:r>
            <a:r>
              <a:rPr lang="en-US" altLang="en-US" sz="1600" dirty="0"/>
              <a:t>ến quyết </a:t>
            </a:r>
            <a:r>
              <a:rPr lang="" altLang="en-US" sz="1600" dirty="0"/>
              <a:t>đ</a:t>
            </a:r>
            <a:r>
              <a:rPr lang="en-US" altLang="en-US" sz="1600" dirty="0"/>
              <a:t>ịnh trúng tuyển của hội </a:t>
            </a:r>
            <a:r>
              <a:rPr lang="" altLang="en-US" sz="1600" dirty="0"/>
              <a:t>đ</a:t>
            </a:r>
            <a:r>
              <a:rPr lang="en-US" altLang="en-US" sz="1600" dirty="0"/>
              <a:t>ồng tuyển sinh.</a:t>
            </a:r>
            <a:endParaRPr lang="en-US" altLang="en-US" sz="1600" dirty="0"/>
          </a:p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altLang="en-US" sz="1600" dirty="0"/>
              <a:t>Quyết </a:t>
            </a:r>
            <a:r>
              <a:rPr lang="" altLang="en-US" sz="1600" dirty="0"/>
              <a:t>đ</a:t>
            </a:r>
            <a:r>
              <a:rPr lang="en-US" altLang="en-US" sz="1600" dirty="0"/>
              <a:t>ịnh xử l</a:t>
            </a:r>
            <a:r>
              <a:rPr lang="" altLang="en-US" sz="1600" dirty="0"/>
              <a:t>ý: </a:t>
            </a:r>
            <a:r>
              <a:rPr lang="en-US" altLang="en-US" sz="1600" dirty="0"/>
              <a:t>Giữ lại toàn bộ các cột này vì </a:t>
            </a:r>
            <a:r>
              <a:rPr lang="" altLang="en-US" sz="1600" dirty="0"/>
              <a:t>đ</a:t>
            </a:r>
            <a:r>
              <a:rPr lang="en-US" altLang="en-US" sz="1600" dirty="0"/>
              <a:t>ều có </a:t>
            </a:r>
            <a:r>
              <a:rPr lang="" altLang="en-US" sz="1600" dirty="0"/>
              <a:t>đ</a:t>
            </a:r>
            <a:r>
              <a:rPr lang="en-US" altLang="en-US" sz="1600" dirty="0"/>
              <a:t>ộ t</a:t>
            </a:r>
            <a:r>
              <a:rPr lang="" altLang="en-US" sz="1600" dirty="0"/>
              <a:t>ư</a:t>
            </a:r>
            <a:r>
              <a:rPr lang="en-US" altLang="en-US" sz="1600" dirty="0"/>
              <a:t>ơng quan mạnh với mục tiêu, không có cặp biến nào bị trùng lặp thông tin tuyệt </a:t>
            </a:r>
            <a:r>
              <a:rPr lang="" altLang="en-US" sz="1600" dirty="0"/>
              <a:t>đ</a:t>
            </a:r>
            <a:r>
              <a:rPr lang="en-US" altLang="en-US" sz="1600" dirty="0"/>
              <a:t>ối.</a:t>
            </a:r>
            <a:endParaRPr lang="en-US" alt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35255" y="1179195"/>
            <a:ext cx="6775450" cy="448246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19997" y="0"/>
            <a:ext cx="5671698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1F4E79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EDA 3 · CGPA VÀ TARGET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519997" y="302816"/>
            <a:ext cx="5671698" cy="8763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00" kern="100" spc="-15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CGPA tăng thì Chance of Admit có xu hướng tăng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838950" y="1428750"/>
            <a:ext cx="4568190" cy="280098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altLang="en-US" sz="1600" dirty="0"/>
              <a:t>Trực quan:Biểu </a:t>
            </a:r>
            <a:r>
              <a:rPr lang="" altLang="en-US" sz="1600" dirty="0"/>
              <a:t>đ</a:t>
            </a:r>
            <a:r>
              <a:rPr lang="en-US" altLang="en-US" sz="1600" dirty="0"/>
              <a:t>ồ thể hiện mức </a:t>
            </a:r>
            <a:r>
              <a:rPr lang="" altLang="en-US" sz="1600" dirty="0"/>
              <a:t>đ</a:t>
            </a:r>
            <a:r>
              <a:rPr lang="en-US" altLang="en-US" sz="1600" dirty="0"/>
              <a:t>ộ t</a:t>
            </a:r>
            <a:r>
              <a:rPr lang="" altLang="en-US" sz="1600" dirty="0"/>
              <a:t>ư</a:t>
            </a:r>
            <a:r>
              <a:rPr lang="en-US" altLang="en-US" sz="1600" dirty="0"/>
              <a:t>ơng quan tuyến tính giữa các cột. Cột CGPA 0.87, GRE Score 0.80 và TOEFL Score 0.79 có hệ số t</a:t>
            </a:r>
            <a:r>
              <a:rPr lang="" altLang="en-US" sz="1600" dirty="0"/>
              <a:t>ư</a:t>
            </a:r>
            <a:r>
              <a:rPr lang="en-US" altLang="en-US" sz="1600" dirty="0"/>
              <a:t>ơng quan rất cao với Chance of Admit.</a:t>
            </a:r>
            <a:endParaRPr lang="en-US" altLang="en-US" sz="1600" dirty="0"/>
          </a:p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" altLang="en-US" sz="1600" dirty="0"/>
              <a:t>Ý </a:t>
            </a:r>
            <a:r>
              <a:rPr lang="en-US" altLang="en-US" sz="1600" dirty="0"/>
              <a:t>ngh</a:t>
            </a:r>
            <a:r>
              <a:rPr lang="" altLang="en-US" sz="1600" dirty="0"/>
              <a:t>ĩ</a:t>
            </a:r>
            <a:r>
              <a:rPr lang="en-US" altLang="en-US" sz="1600" dirty="0"/>
              <a:t>a với bài toán: Xác </a:t>
            </a:r>
            <a:r>
              <a:rPr lang="" altLang="en-US" sz="1600" dirty="0"/>
              <a:t>đ</a:t>
            </a:r>
            <a:r>
              <a:rPr lang="en-US" altLang="en-US" sz="1600" dirty="0"/>
              <a:t>ịnh r</a:t>
            </a:r>
            <a:r>
              <a:rPr lang="" altLang="en-US" sz="1600" dirty="0"/>
              <a:t>õ </a:t>
            </a:r>
            <a:r>
              <a:rPr lang="en-US" altLang="en-US" sz="1600" dirty="0"/>
              <a:t>các </a:t>
            </a:r>
            <a:r>
              <a:rPr lang="" altLang="en-US" sz="1600" dirty="0"/>
              <a:t>đ</a:t>
            </a:r>
            <a:r>
              <a:rPr lang="en-US" altLang="en-US" sz="1600" dirty="0"/>
              <a:t>ặc tr</a:t>
            </a:r>
            <a:r>
              <a:rPr lang="" altLang="en-US" sz="1600" dirty="0"/>
              <a:t>ư</a:t>
            </a:r>
            <a:r>
              <a:rPr lang="en-US" altLang="en-US" sz="1600" dirty="0"/>
              <a:t>ng có sức nặng lớn nhất tác </a:t>
            </a:r>
            <a:r>
              <a:rPr lang="" altLang="en-US" sz="1600" dirty="0"/>
              <a:t>đ</a:t>
            </a:r>
            <a:r>
              <a:rPr lang="en-US" altLang="en-US" sz="1600" dirty="0"/>
              <a:t>ộng </a:t>
            </a:r>
            <a:r>
              <a:rPr lang="" altLang="en-US" sz="1600" dirty="0"/>
              <a:t>đ</a:t>
            </a:r>
            <a:r>
              <a:rPr lang="en-US" altLang="en-US" sz="1600" dirty="0"/>
              <a:t>ến quyết </a:t>
            </a:r>
            <a:r>
              <a:rPr lang="" altLang="en-US" sz="1600" dirty="0"/>
              <a:t>đ</a:t>
            </a:r>
            <a:r>
              <a:rPr lang="en-US" altLang="en-US" sz="1600" dirty="0"/>
              <a:t>ịnh trúng tuyển của hội </a:t>
            </a:r>
            <a:r>
              <a:rPr lang="" altLang="en-US" sz="1600" dirty="0"/>
              <a:t>đ</a:t>
            </a:r>
            <a:r>
              <a:rPr lang="en-US" altLang="en-US" sz="1600" dirty="0"/>
              <a:t>ồng tuyển sinh.</a:t>
            </a:r>
            <a:endParaRPr lang="en-US" altLang="en-US" sz="1600" dirty="0"/>
          </a:p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altLang="en-US" sz="1600" dirty="0"/>
              <a:t>Quyết </a:t>
            </a:r>
            <a:r>
              <a:rPr lang="" altLang="en-US" sz="1600" dirty="0"/>
              <a:t>đ</a:t>
            </a:r>
            <a:r>
              <a:rPr lang="en-US" altLang="en-US" sz="1600" dirty="0"/>
              <a:t>ịnh xử l</a:t>
            </a:r>
            <a:r>
              <a:rPr lang="" altLang="en-US" sz="1600" dirty="0"/>
              <a:t>ý: </a:t>
            </a:r>
            <a:r>
              <a:rPr lang="en-US" altLang="en-US" sz="1600" dirty="0"/>
              <a:t>Giữ lại toàn bộ các cột này vì </a:t>
            </a:r>
            <a:r>
              <a:rPr lang="" altLang="en-US" sz="1600" dirty="0"/>
              <a:t>đ</a:t>
            </a:r>
            <a:r>
              <a:rPr lang="en-US" altLang="en-US" sz="1600" dirty="0"/>
              <a:t>ều có </a:t>
            </a:r>
            <a:r>
              <a:rPr lang="" altLang="en-US" sz="1600" dirty="0"/>
              <a:t>đ</a:t>
            </a:r>
            <a:r>
              <a:rPr lang="en-US" altLang="en-US" sz="1600" dirty="0"/>
              <a:t>ộ t</a:t>
            </a:r>
            <a:r>
              <a:rPr lang="" altLang="en-US" sz="1600" dirty="0"/>
              <a:t>ư</a:t>
            </a:r>
            <a:r>
              <a:rPr lang="en-US" altLang="en-US" sz="1600" dirty="0"/>
              <a:t>ơng quan mạnh với mục tiêu, không có cặp biến nào bị trùng lặp thông tin tuyệt </a:t>
            </a:r>
            <a:r>
              <a:rPr lang="" altLang="en-US" sz="1600" dirty="0"/>
              <a:t>đ</a:t>
            </a:r>
            <a:r>
              <a:rPr lang="en-US" altLang="en-US" sz="1600" dirty="0"/>
              <a:t>ối.</a:t>
            </a:r>
            <a:endParaRPr lang="en-US" alt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09600"/>
            <a:ext cx="8321675" cy="341757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52862" y="181610"/>
            <a:ext cx="5062113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666666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EDA 4 · GRE VÀ TOEFL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8321675" y="991235"/>
            <a:ext cx="3068320" cy="131445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 fontScale="90000"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00" kern="100" spc="-15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Điểm thi có độ phân tán hữu ích, không thay thế CGPA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4195" y="4112260"/>
            <a:ext cx="10553065" cy="27457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altLang="en-US" sz="1600" dirty="0"/>
              <a:t>Trực quan: Biểu </a:t>
            </a:r>
            <a:r>
              <a:rPr lang="" altLang="en-US" sz="1600" dirty="0"/>
              <a:t>đ</a:t>
            </a:r>
            <a:r>
              <a:rPr lang="en-US" altLang="en-US" sz="1600" dirty="0"/>
              <a:t>ồ hộp (boxplot) cho thấy phân bố </a:t>
            </a:r>
            <a:r>
              <a:rPr lang="" altLang="en-US" sz="1600" dirty="0"/>
              <a:t>đ</a:t>
            </a:r>
            <a:r>
              <a:rPr lang="en-US" altLang="en-US" sz="1600" dirty="0"/>
              <a:t>iểm GRE và TOEFL tập trung </a:t>
            </a:r>
            <a:r>
              <a:rPr lang="" altLang="en-US" sz="1600" dirty="0"/>
              <a:t>đ</a:t>
            </a:r>
            <a:r>
              <a:rPr lang="en-US" altLang="en-US" sz="1600" dirty="0"/>
              <a:t>ồng </a:t>
            </a:r>
            <a:r>
              <a:rPr lang="" altLang="en-US" sz="1600" dirty="0"/>
              <a:t>đ</a:t>
            </a:r>
            <a:r>
              <a:rPr lang="en-US" altLang="en-US" sz="1600" dirty="0"/>
              <a:t>ều trong khoảng tứ phân vị, hầu nh</a:t>
            </a:r>
            <a:r>
              <a:rPr lang="" altLang="en-US" sz="1600" dirty="0"/>
              <a:t>ư </a:t>
            </a:r>
            <a:r>
              <a:rPr lang="en-US" altLang="en-US" sz="1600" dirty="0"/>
              <a:t>không xuất hiện các giá trị ngoại lai (outliers) bất th</a:t>
            </a:r>
            <a:r>
              <a:rPr lang="" altLang="en-US" sz="1600" dirty="0"/>
              <a:t>ư</a:t>
            </a:r>
            <a:r>
              <a:rPr lang="en-US" altLang="en-US" sz="1600" dirty="0"/>
              <a:t>ờng v</a:t>
            </a:r>
            <a:r>
              <a:rPr lang="" altLang="en-US" sz="1600" dirty="0"/>
              <a:t>ư</a:t>
            </a:r>
            <a:r>
              <a:rPr lang="en-US" altLang="en-US" sz="1600" dirty="0"/>
              <a:t>ợt quá giới hạn hợp l</a:t>
            </a:r>
            <a:r>
              <a:rPr lang="" altLang="en-US" sz="1600" dirty="0"/>
              <a:t>ý.</a:t>
            </a:r>
            <a:endParaRPr lang="" altLang="en-US" sz="1600" dirty="0"/>
          </a:p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" altLang="en-US" sz="1600" dirty="0"/>
              <a:t>Ý </a:t>
            </a:r>
            <a:r>
              <a:rPr lang="en-US" altLang="en-US" sz="1600" dirty="0"/>
              <a:t>ngh</a:t>
            </a:r>
            <a:r>
              <a:rPr lang="" altLang="en-US" sz="1600" dirty="0"/>
              <a:t>ĩ</a:t>
            </a:r>
            <a:r>
              <a:rPr lang="en-US" altLang="en-US" sz="1600" dirty="0"/>
              <a:t>a với bài toán: Dữ liệu </a:t>
            </a:r>
            <a:r>
              <a:rPr lang="" altLang="en-US" sz="1600" dirty="0"/>
              <a:t>đ</a:t>
            </a:r>
            <a:r>
              <a:rPr lang="en-US" altLang="en-US" sz="1600" dirty="0"/>
              <a:t>ầu vào từ các kỳ thi chuẩn hóa </a:t>
            </a:r>
            <a:r>
              <a:rPr lang="" altLang="en-US" sz="1600" dirty="0"/>
              <a:t>đ</a:t>
            </a:r>
            <a:r>
              <a:rPr lang="en-US" altLang="en-US" sz="1600" dirty="0"/>
              <a:t>ã </a:t>
            </a:r>
            <a:r>
              <a:rPr lang="" altLang="en-US" sz="1600" dirty="0"/>
              <a:t>đư</a:t>
            </a:r>
            <a:r>
              <a:rPr lang="en-US" altLang="en-US" sz="1600" dirty="0"/>
              <a:t>ợc chuẩn hóa thang </a:t>
            </a:r>
            <a:r>
              <a:rPr lang="" altLang="en-US" sz="1600" dirty="0"/>
              <a:t>đ</a:t>
            </a:r>
            <a:r>
              <a:rPr lang="en-US" altLang="en-US" sz="1600" dirty="0"/>
              <a:t>iểm tốt, không có lỗi nhập liệu (nh</a:t>
            </a:r>
            <a:r>
              <a:rPr lang="" altLang="en-US" sz="1600" dirty="0"/>
              <a:t>ư đ</a:t>
            </a:r>
            <a:r>
              <a:rPr lang="en-US" altLang="en-US" sz="1600" dirty="0"/>
              <a:t>iểm GRE &gt; 340 hay âm).</a:t>
            </a:r>
            <a:endParaRPr lang="en-US" altLang="en-US" sz="1600" dirty="0"/>
          </a:p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altLang="en-US" sz="1600" dirty="0"/>
              <a:t>Quyết </a:t>
            </a:r>
            <a:r>
              <a:rPr lang="" altLang="en-US" sz="1600" dirty="0"/>
              <a:t>đ</a:t>
            </a:r>
            <a:r>
              <a:rPr lang="en-US" altLang="en-US" sz="1600" dirty="0"/>
              <a:t>ịnh xử l</a:t>
            </a:r>
            <a:r>
              <a:rPr lang="" altLang="en-US" sz="1600" dirty="0"/>
              <a:t>ý: </a:t>
            </a:r>
            <a:r>
              <a:rPr lang="en-US" altLang="en-US" sz="1600" dirty="0"/>
              <a:t>Giữ nguyên dữ liệu gốc, không cần phải cắt bỏ hay xử l</a:t>
            </a:r>
            <a:r>
              <a:rPr lang="" altLang="en-US" sz="1600" dirty="0"/>
              <a:t>ý </a:t>
            </a:r>
            <a:r>
              <a:rPr lang="en-US" altLang="en-US" sz="1600" dirty="0"/>
              <a:t>ngoại lai (outlier clipping) cho hai cột này </a:t>
            </a:r>
            <a:r>
              <a:rPr lang="" altLang="en-US" sz="1600" dirty="0"/>
              <a:t>đ</a:t>
            </a:r>
            <a:r>
              <a:rPr lang="en-US" altLang="en-US" sz="1600" dirty="0"/>
              <a:t>ể tránh làm mất thông tin hồ sơ thực tế</a:t>
            </a:r>
            <a:endParaRPr lang="en-US" alt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90600"/>
            <a:ext cx="6690995" cy="50317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29582" y="609600"/>
            <a:ext cx="5062113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666666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EDA 5 · RESEARCH VÀ HỒ SƠ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129582" y="912416"/>
            <a:ext cx="4452528" cy="8763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00" kern="100" spc="-15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Kinh nghiệm nghiên cứu bổ sung tín hiệu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129582" y="2049066"/>
            <a:ext cx="4452528" cy="331450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Trực quan: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nhóm Research = 1 và Research = 0 cho thấy khác biệt về tỷ lệ Chance of Admit.</a:t>
            </a:r>
            <a:endParaRPr lang="en-US" sz="1600" dirty="0"/>
          </a:p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Ý nghĩa với bài toán: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có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54%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ứng viên có Research, tương ứng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270/500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; biến nhị phân này bổ sung thông tin cho nhóm điểm học thuật.</a:t>
            </a:r>
            <a:endParaRPr lang="en-US" sz="16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Quyết định xử lý: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giữ Research đúng dạng 0/1, không biến đổi thành điểm liên tục; kết hợp với University Rating trung bình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3.11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, SOP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3.37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, LOR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3.48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6039989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00686B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MÔ HÌNH · THIẾT KẾ THỬ NGHIỆM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912416"/>
            <a:ext cx="5430404" cy="8763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00" kern="100" spc="-15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5 mô hình hồi quy được đưa vào đánh giá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/>
        </p:nvGraphicFramePr>
        <p:xfrm>
          <a:off x="609585" y="2049066"/>
          <a:ext cx="5430404" cy="2570098"/>
        </p:xfrm>
        <a:graphic>
          <a:graphicData uri="http://schemas.openxmlformats.org/drawingml/2006/table">
            <a:tbl>
              <a:tblPr/>
              <a:tblGrid>
                <a:gridCol w="2715152"/>
                <a:gridCol w="2715252"/>
              </a:tblGrid>
              <a:tr h="4596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Nhóm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Mô hình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96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Tuyến tính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Linear Regression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41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Ensemble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Random Forest, Gradient Boosting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96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Kernel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SVR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69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Lân cận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KNN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06663" y="0"/>
            <a:ext cx="5085032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6" name="Text 3"/>
          <p:cNvSpPr/>
          <p:nvPr/>
        </p:nvSpPr>
        <p:spPr>
          <a:xfrm>
            <a:off x="7716248" y="609600"/>
            <a:ext cx="4475447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FFFFFF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NGUYÊN TẮC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16248" y="1042591"/>
            <a:ext cx="3865863" cy="568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Cùng dữ liệu, cùng cách chia và cùng bộ chỉ số: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MSE, RMSE, MAE, R²</a:t>
            </a: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716248" y="1846461"/>
            <a:ext cx="3865863" cy="46216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Mục tiêu không chỉ là điểm số tốt mà còn là mô hình có thể giải thích và triển khai.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5648878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666666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MODEL 1 · LINEAR REGRESSION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912416"/>
            <a:ext cx="5039293" cy="8763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00" kern="100" spc="-15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Mốc chuẩn đơn giản và hiệu quả nhất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585" y="2049066"/>
            <a:ext cx="5039293" cy="194171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Nguyên lý: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học quan hệ tuyến tính giữa 7 đặc trưng và Chance of Admit bằng cách tối thiểu hóa tổng bình phương sai số.</a:t>
            </a:r>
            <a:endParaRPr lang="en-US" sz="16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Ưu: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dễ giải thích, huấn luyện nhanh, triển khai nhẹ.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Nhược: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giả định quan hệ gần tuyến tính, nhạy với ngoại lệ.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715552" y="0"/>
            <a:ext cx="5476143" cy="6858000"/>
          </a:xfrm>
          <a:prstGeom prst="rect">
            <a:avLst/>
          </a:prstGeom>
          <a:solidFill>
            <a:srgbClr val="15154C"/>
          </a:solidFill>
        </p:spPr>
      </p:sp>
      <p:sp>
        <p:nvSpPr>
          <p:cNvPr id="6" name="Text 4"/>
          <p:cNvSpPr/>
          <p:nvPr/>
        </p:nvSpPr>
        <p:spPr>
          <a:xfrm>
            <a:off x="7325137" y="609600"/>
            <a:ext cx="4866558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FFFFFF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KẾT QUẢ / TINH CHỈNH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25137" y="1042591"/>
            <a:ext cx="4256973" cy="568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MSE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0.004617</a:t>
            </a: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· RMSE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0.067949</a:t>
            </a: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· MAE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0.047957</a:t>
            </a: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· R²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0.821208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25137" y="1846461"/>
            <a:ext cx="4256973" cy="46216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Tinh chỉnh chính: kiểm tra scale, phần dư và hệ số; không cần tuning phức tạp.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5648878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117A7A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MODEL 2 · RANDOM FOREST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912416"/>
            <a:ext cx="5039293" cy="8763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00" kern="100" spc="-15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Ổn định trước quan hệ phi tuyến và tương tác biến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585" y="2049066"/>
            <a:ext cx="5039293" cy="165725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Nguyên lý: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ghép nhiều cây quyết định trên các mẫu và tập đặc trưng khác nhau, rồi lấy trung bình dự đoán.</a:t>
            </a:r>
            <a:endParaRPr lang="en-US" sz="16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Ưu: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bắt được phi tuyến, ít cần giả định phân phối.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Nhược: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nặng hơn và khó giải thích hơn tuyến tính.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715552" y="0"/>
            <a:ext cx="5476143" cy="6858000"/>
          </a:xfrm>
          <a:prstGeom prst="rect">
            <a:avLst/>
          </a:prstGeom>
          <a:solidFill>
            <a:srgbClr val="2878FF"/>
          </a:solidFill>
        </p:spPr>
      </p:sp>
      <p:sp>
        <p:nvSpPr>
          <p:cNvPr id="6" name="Text 4"/>
          <p:cNvSpPr/>
          <p:nvPr/>
        </p:nvSpPr>
        <p:spPr>
          <a:xfrm>
            <a:off x="7325137" y="609600"/>
            <a:ext cx="4866558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FFFFFF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KẾT QUẢ / TINH CHỈNH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25137" y="1042591"/>
            <a:ext cx="4256973" cy="568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MSE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0.004994</a:t>
            </a: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· RMSE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0.070669</a:t>
            </a: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· MAE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0.049775</a:t>
            </a: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· R²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0.806608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25137" y="1846461"/>
            <a:ext cx="4256973" cy="46216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Quan tâm n_estimators, max_depth và min_samples_leaf để cân bằng ổn định với overfit.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5648878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666666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MODEL 3 · GRADIENT BOOSTING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912416"/>
            <a:ext cx="5039293" cy="8763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00" kern="100" spc="-15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Ensemble tuần tự nhưng chưa vượt mốc tuyến tính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585" y="2049066"/>
            <a:ext cx="5039293" cy="137279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Nguyên lý: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mỗi cây mới tập trung sửa phần dư của các cây trước, tạo ensemble tuần tự.</a:t>
            </a:r>
            <a:endParaRPr lang="en-US" sz="16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Ưu: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mô hình hóa phi tuyến tốt.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Nhược: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nhạy tham số, thời gian huấn luyện và kiểm soát overfit cao hơn.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715552" y="0"/>
            <a:ext cx="5476143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6" name="Text 4"/>
          <p:cNvSpPr/>
          <p:nvPr/>
        </p:nvSpPr>
        <p:spPr>
          <a:xfrm>
            <a:off x="7325137" y="609600"/>
            <a:ext cx="4866558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FFFFFF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KẾT QUẢ / TINH CHỈNH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25137" y="1042591"/>
            <a:ext cx="4256973" cy="568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MSE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0.005281</a:t>
            </a: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· RMSE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0.072669</a:t>
            </a: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· MAE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0.050174</a:t>
            </a: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· R²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0.795502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25137" y="1846461"/>
            <a:ext cx="4256973" cy="69324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Tinh chỉnh learning_rate, n_estimators và max_depth; theo dõi validation để tránh học quá sâu.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5648878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1F4E79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MODEL 4 · SVR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912416"/>
            <a:ext cx="5039293" cy="8763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00" kern="100" spc="-15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Biên hồi quy linh hoạt, đổi lại chi phí vận hành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585" y="2049066"/>
            <a:ext cx="5039293" cy="165725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Nguyên lý: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tìm một biên sai số nhỏ quanh hàm dự đoán; kernel cho phép biểu diễn quan hệ phi tuyến.</a:t>
            </a:r>
            <a:endParaRPr lang="en-US" sz="16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Ưu: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xử lý phi tuyến tốt khi dữ liệu được chuẩn hóa.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Nhược: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phụ thuộc kernel và tham số, kém thuận tiện để giải thích.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715552" y="0"/>
            <a:ext cx="5476143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6" name="Text 4"/>
          <p:cNvSpPr/>
          <p:nvPr/>
        </p:nvSpPr>
        <p:spPr>
          <a:xfrm>
            <a:off x="7325137" y="609600"/>
            <a:ext cx="4866558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FFFFFF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KẾT QUẢ / TINH CHỈNH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25137" y="1042591"/>
            <a:ext cx="4256973" cy="568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MSE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0.006203</a:t>
            </a: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· RMSE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0.078761</a:t>
            </a: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· MAE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0.064808</a:t>
            </a: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· R²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0.759781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25137" y="1846461"/>
            <a:ext cx="4256973" cy="46216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Cần chuẩn hóa; thử kernel, C, gamma và epsilon, đồng thời kiểm soát chi phí tính toán.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5648878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006B6B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MODEL 5 · KNN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912416"/>
            <a:ext cx="5039293" cy="8763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00" kern="100" spc="-15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Dễ hiểu nhưng phụ thuộc mạnh vào thang đo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585" y="2049066"/>
            <a:ext cx="5039293" cy="165725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Nguyên lý: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dự đoán từ trung bình các điểm gần nhất trong không gian đặc trưng.</a:t>
            </a:r>
            <a:endParaRPr lang="en-US" sz="16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Ưu: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trực quan, ít giả định.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Nhược: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dự đoán chậm hơn khi dữ liệu tăng, nhạy với chuẩn hóa và lựa chọn 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715552" y="0"/>
            <a:ext cx="5476143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6" name="Text 4"/>
          <p:cNvSpPr/>
          <p:nvPr/>
        </p:nvSpPr>
        <p:spPr>
          <a:xfrm>
            <a:off x="7325137" y="609600"/>
            <a:ext cx="4866558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FFFFFF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KẾT QUẢ / TINH CHỈNH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25137" y="1042591"/>
            <a:ext cx="4256973" cy="568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MSE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0.006300</a:t>
            </a: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· RMSE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0.079373</a:t>
            </a: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· MAE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0.054225</a:t>
            </a: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· R²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0.756033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25137" y="1846461"/>
            <a:ext cx="4256973" cy="46216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Chuẩn hóa trước khi tính khoảng cách; tinh chỉnh n_neighbors và metric.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1582110" cy="28446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SO SÁNH VÀ ĐÁNH GIÁ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09585" y="1341735"/>
            <a:ext cx="10972526" cy="3631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200" kern="100" spc="-11" dirty="0">
                <a:solidFill>
                  <a:srgbClr val="222222"/>
                </a:solidFill>
                <a:latin typeface="Lexend Medium" pitchFamily="34" charset="0"/>
                <a:ea typeface="Lexend Medium" pitchFamily="34" charset="-122"/>
                <a:cs typeface="Lexend Medium" pitchFamily="34" charset="-120"/>
              </a:rPr>
              <a:t>Linear Regression dẫn đầu trên bộ kiểm thử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/>
        </p:nvGraphicFramePr>
        <p:xfrm>
          <a:off x="609585" y="1892201"/>
          <a:ext cx="10972526" cy="2745314"/>
        </p:xfrm>
        <a:graphic>
          <a:graphicData uri="http://schemas.openxmlformats.org/drawingml/2006/table">
            <a:tbl>
              <a:tblPr/>
              <a:tblGrid>
                <a:gridCol w="2194485"/>
                <a:gridCol w="2194485"/>
                <a:gridCol w="2194485"/>
                <a:gridCol w="2194485"/>
                <a:gridCol w="2194585"/>
              </a:tblGrid>
              <a:tr h="4596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Model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MSE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RMSE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MAE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R²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96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Linear Regression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0.004617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0.067949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0.047957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0.821208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96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Random Forest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0.004994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0.070669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0.049775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0.806608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96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Gradient Boosting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0.005281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0.072669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0.050174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0.795502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96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SVR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0.006203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0.078761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0.064808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0.759781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69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KNN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0.006300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0.079373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0.054225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0.756033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6039989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117F80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LỰA CHỌN MÔ HÌNH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912416"/>
            <a:ext cx="5430404" cy="8763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00" kern="100" spc="-15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Chọn Linear Regression cho phiên bản triển khai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585" y="2049066"/>
            <a:ext cx="5430404" cy="219124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R² cao nhất: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0.821208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MSE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0.004617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, RMSE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0.067949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, MAE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0.047957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đều thấp nhất.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Đơn giản, nhanh, dễ kiểm tra và dễ giải thích với người dùng.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Phù hợp mục tiêu sản phẩm: chất lượng tốt cùng chi phí vận hành thấp.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106663" y="0"/>
            <a:ext cx="5085032" cy="6858000"/>
          </a:xfrm>
          <a:prstGeom prst="rect">
            <a:avLst/>
          </a:prstGeom>
          <a:solidFill>
            <a:srgbClr val="15154C"/>
          </a:solidFill>
        </p:spPr>
      </p:sp>
      <p:sp>
        <p:nvSpPr>
          <p:cNvPr id="6" name="Text 4"/>
          <p:cNvSpPr/>
          <p:nvPr/>
        </p:nvSpPr>
        <p:spPr>
          <a:xfrm>
            <a:off x="7716248" y="609600"/>
            <a:ext cx="4475447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FFFFFF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TRADE-OFF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16248" y="1042591"/>
            <a:ext cx="3865863" cy="113784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Random Forest vẫn là phương án dự phòng khi cần bắt quan hệ phi tuyến, nhưng điểm test hiện tại chưa vượt baseline.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16248" y="2415381"/>
            <a:ext cx="3865863" cy="46216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Quyết định dựa trên cả metric và khả năng vận hành, không chỉ một con số.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6039989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1F4E79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TRIỂN KHAI HỆ THỐNG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912416"/>
            <a:ext cx="5430404" cy="8763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00" kern="100" spc="-15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Từ notebook đến dịch vụ có thể vận hành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585" y="2049066"/>
            <a:ext cx="5430404" cy="225792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7000"/>
              </a:lnSpc>
              <a:buSzPct val="100000"/>
              <a:buFont typeface="+mj-lt"/>
              <a:buAutoNum type="arabicPeriod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Tiền xử lý, huấn luyện và đánh giá model.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Font typeface="+mj-lt"/>
              <a:buAutoNum type="arabicPeriod" startAt="2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Đóng gói model thành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model.joblib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, cùng hợp đồng trường trong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schema.json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Font typeface="+mj-lt"/>
              <a:buAutoNum type="arabicPeriod" startAt="3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Tách frontend, backend API và AI service.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Font typeface="+mj-lt"/>
              <a:buAutoNum type="arabicPeriod" startAt="4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Kiểm tra healthcheck, request_id và hợp đồng lỗi.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Font typeface="+mj-lt"/>
              <a:buAutoNum type="arabicPeriod" startAt="5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Chạy toàn bộ bằng Docker Compose; chia sẻ qua ngrok/localtunnel khi cần.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106663" y="0"/>
            <a:ext cx="5085032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6" name="Text 4"/>
          <p:cNvSpPr/>
          <p:nvPr/>
        </p:nvSpPr>
        <p:spPr>
          <a:xfrm>
            <a:off x="7716248" y="609600"/>
            <a:ext cx="4475447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FFFFFF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ĐIỂM BÀN GIAO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16248" y="1042591"/>
            <a:ext cx="3865863" cy="568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Notebook → artifact → API contract → container → endpoint có thể gọi.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16248" y="1897261"/>
            <a:ext cx="1275723" cy="38100"/>
          </a:xfrm>
          <a:prstGeom prst="roundRect">
            <a:avLst>
              <a:gd name="adj" fmla="val 49999"/>
            </a:avLst>
          </a:prstGeom>
          <a:solidFill>
            <a:srgbClr val="FFFFFF"/>
          </a:solidFill>
        </p:spPr>
      </p:sp>
      <p:sp>
        <p:nvSpPr>
          <p:cNvPr id="9" name="Text 7"/>
          <p:cNvSpPr/>
          <p:nvPr/>
        </p:nvSpPr>
        <p:spPr>
          <a:xfrm>
            <a:off x="7716248" y="2221111"/>
            <a:ext cx="3865863" cy="46216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Mỗi lớp tách riêng để thay model hoặc giao diện mà không phá toàn bộ hệ thống.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6039989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006B6B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PRODUCT · OVERVIEW APP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912416"/>
            <a:ext cx="5430404" cy="8763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00" kern="100" spc="-15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Ứng dụng web biến dự đoán thành một thao tác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585" y="2049066"/>
            <a:ext cx="5430404" cy="197346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7000"/>
              </a:lnSpc>
              <a:buSzPct val="100000"/>
              <a:buFont typeface="+mj-lt"/>
              <a:buAutoNum type="arabicPeriod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Nhập GRE, TOEFL, University Rating, SOP, LOR, CGPA và Research.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Font typeface="+mj-lt"/>
              <a:buAutoNum type="arabicPeriod" startAt="2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Frontend (cổng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3000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) gửi request đến server API.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Font typeface="+mj-lt"/>
              <a:buAutoNum type="arabicPeriod" startAt="3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Backend (cổng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8000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) xác thực payload, gọi AI service.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Font typeface="+mj-lt"/>
              <a:buAutoNum type="arabicPeriod" startAt="4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AI service (cổng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8001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) trả prediction.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Font typeface="+mj-lt"/>
              <a:buAutoNum type="arabicPeriod" startAt="5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UI hiển thị xác suất, trạng thái và request_id.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106663" y="0"/>
            <a:ext cx="5085032" cy="6858000"/>
          </a:xfrm>
          <a:prstGeom prst="rect">
            <a:avLst/>
          </a:prstGeom>
          <a:solidFill>
            <a:srgbClr val="1F4E79"/>
          </a:solidFill>
        </p:spPr>
      </p:sp>
      <p:sp>
        <p:nvSpPr>
          <p:cNvPr id="6" name="Text 4"/>
          <p:cNvSpPr/>
          <p:nvPr/>
        </p:nvSpPr>
        <p:spPr>
          <a:xfrm>
            <a:off x="7716248" y="609600"/>
            <a:ext cx="4475447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FFFFFF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TRẢI NGHIỆM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16248" y="1042591"/>
            <a:ext cx="3865863" cy="568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Một form rõ ràng, một thao tác submit, một response có thể truy vết.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16248" y="1846461"/>
            <a:ext cx="3865863" cy="46216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App product hóa mô hình nhưng không che giấu hợp đồng API phía sau.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6039989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117A7D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PRODUCT · DOCKER COMPOSE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912416"/>
            <a:ext cx="5430404" cy="8763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00" kern="100" spc="-15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Khởi chạy đồng bộ bằng một lệnh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585" y="2049066"/>
            <a:ext cx="6039989" cy="28446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22222"/>
                </a:solidFill>
                <a:highlight>
                  <a:srgbClr val="EAF1F5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docker compose up --build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09585" y="2568476"/>
            <a:ext cx="5430404" cy="247570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Compose khởi chạy frontend 3000, backend 8000 và ai-service 8001.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depends_on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quy định quan hệ khởi động giữa các service.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healthcheck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giúp backend chỉ gọi AI service khi sẵn sàng.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model.joblib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và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schema.json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được mount hoặc đóng gói cùng AI service.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106663" y="0"/>
            <a:ext cx="5085032" cy="6858000"/>
          </a:xfrm>
          <a:prstGeom prst="rect">
            <a:avLst/>
          </a:prstGeom>
          <a:solidFill>
            <a:srgbClr val="2878FF"/>
          </a:solidFill>
        </p:spPr>
      </p:sp>
      <p:sp>
        <p:nvSpPr>
          <p:cNvPr id="7" name="Text 5"/>
          <p:cNvSpPr/>
          <p:nvPr/>
        </p:nvSpPr>
        <p:spPr>
          <a:xfrm>
            <a:off x="7716248" y="609600"/>
            <a:ext cx="4475447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FFFFFF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VẬN HÀNH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16248" y="1042591"/>
            <a:ext cx="3865863" cy="568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Thay vì chạy thủ công nhiều terminal, một lệnh tái tạo cùng topology dịch vụ.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16248" y="1846461"/>
            <a:ext cx="3865863" cy="46216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Khi cần expose ra ngoài: dùng ngrok hoặc localtunnel cho frontend/API.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6039989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666666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PRODUCT · API SERVER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912416"/>
            <a:ext cx="5430404" cy="8763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00" kern="100" spc="-15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Server API chịu trách nhiệm giao tiếp với ứng dụng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585" y="2049066"/>
            <a:ext cx="5430404" cy="190678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Endpoint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/api/predict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nhận payload từ frontend và kiểm tra schema.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Tạo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request_id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để truy vết từng lần dự đoán.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Gọi AI service, chuẩn hóa response và trả lỗi có cấu trúc.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Cung cấp healthcheck để kiểm tra trạng thái dịch vụ.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106663" y="0"/>
            <a:ext cx="5085032" cy="6858000"/>
          </a:xfrm>
          <a:prstGeom prst="rect">
            <a:avLst/>
          </a:prstGeom>
          <a:solidFill>
            <a:srgbClr val="15154C"/>
          </a:solidFill>
        </p:spPr>
      </p:sp>
      <p:sp>
        <p:nvSpPr>
          <p:cNvPr id="6" name="Text 4"/>
          <p:cNvSpPr/>
          <p:nvPr/>
        </p:nvSpPr>
        <p:spPr>
          <a:xfrm>
            <a:off x="7716248" y="609600"/>
            <a:ext cx="4475447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FFFFFF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CONTRACT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16248" y="1042591"/>
            <a:ext cx="3865863" cy="568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Success:</a:t>
            </a: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prediction + request_id.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Error:</a:t>
            </a: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mã lỗi + message + request_id.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16248" y="1846461"/>
            <a:ext cx="3865863" cy="46216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Backend là lớp bảo vệ giao diện trước dữ liệu sai và lỗi nội bộ.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6039989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666666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PRODUCT · API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09585" y="912416"/>
            <a:ext cx="5430404" cy="8763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00" kern="100" spc="-15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AI service tải model và trả về dự đoán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585" y="2049066"/>
            <a:ext cx="5430404" cy="282684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Load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model.joblib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khi service khởi động.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Dùng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schema.json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để kiểm tra tên trường và kiểu dữ liệu.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Nhận 7 đặc trưng: GRE, TOEFL, University Rating, SOP, LOR, CGPA, Research.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Endpoint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/predict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phục vụ dự đoán;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/health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báo sẵn sàng; </a:t>
            </a:r>
            <a:r>
              <a:rPr lang="en-US" sz="1600" b="1" dirty="0">
                <a:solidFill>
                  <a:srgbClr val="222222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/model-info</a:t>
            </a: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mô tả model.</a:t>
            </a: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Trả prediction cùng request_id; lỗi model hoặc dữ liệu theo error contract.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106663" y="0"/>
            <a:ext cx="5085032" cy="6858000"/>
          </a:xfrm>
          <a:prstGeom prst="rect">
            <a:avLst/>
          </a:prstGeom>
          <a:solidFill>
            <a:srgbClr val="15154C"/>
          </a:solidFill>
        </p:spPr>
      </p:sp>
      <p:sp>
        <p:nvSpPr>
          <p:cNvPr id="6" name="Text 4"/>
          <p:cNvSpPr/>
          <p:nvPr/>
        </p:nvSpPr>
        <p:spPr>
          <a:xfrm>
            <a:off x="7716248" y="609600"/>
            <a:ext cx="4475447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FFFFFF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TÁCH MODEL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16248" y="1042591"/>
            <a:ext cx="3865863" cy="8533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AI service không phụ thuộc giao diện; có thể thay artifact sau khi kiểm tra schema.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16248" y="2130921"/>
            <a:ext cx="3865863" cy="46216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Ba endpoint phục vụ prediction, quan sát sức khỏe và thông tin model.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6431198" cy="28446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22222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PRODUCT · KẾT NỐI 3 CỔNG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09585" y="1341735"/>
            <a:ext cx="5821614" cy="4381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3000" kern="100" spc="-15" dirty="0">
                <a:solidFill>
                  <a:srgbClr val="11111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Ba dịch vụ, một luồng dự đoán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/>
        </p:nvGraphicFramePr>
        <p:xfrm>
          <a:off x="609585" y="2040235"/>
          <a:ext cx="5821614" cy="2963788"/>
        </p:xfrm>
        <a:graphic>
          <a:graphicData uri="http://schemas.openxmlformats.org/drawingml/2006/table">
            <a:tbl>
              <a:tblPr/>
              <a:tblGrid>
                <a:gridCol w="2910807"/>
                <a:gridCol w="2910807"/>
              </a:tblGrid>
              <a:tr h="4596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Cổng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Vai trò và endpoint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41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3000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Frontend: form nhập và hiển thị kết quả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41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8000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Backend: </a:t>
                      </a: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/api/predict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, validation, request_id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158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8001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AI service: </a:t>
                      </a: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/predict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, </a:t>
                      </a: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/health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, </a:t>
                      </a:r>
                      <a:r>
                        <a:rPr lang="en-US" sz="1600" b="1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/model-info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ea typeface="Arial" panose="020B0604020202020204" pitchFamily="34" charset="-122"/>
                          <a:cs typeface="Arial" panose="020B0604020202020204" pitchFamily="34" charset="-120"/>
                        </a:rPr>
                        <a:t>; model.joblib, schema.json</a:t>
                      </a:r>
                      <a:endParaRPr lang="en-US" sz="1600" dirty="0">
                        <a:latin typeface="Arial" panose="020B0604020202020204" pitchFamily="34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7873" y="0"/>
            <a:ext cx="4693822" cy="6858000"/>
          </a:xfrm>
          <a:prstGeom prst="rect">
            <a:avLst/>
          </a:prstGeom>
          <a:solidFill>
            <a:srgbClr val="15154C"/>
          </a:solidFill>
        </p:spPr>
      </p:sp>
      <p:sp>
        <p:nvSpPr>
          <p:cNvPr id="6" name="Text 3"/>
          <p:cNvSpPr/>
          <p:nvPr/>
        </p:nvSpPr>
        <p:spPr>
          <a:xfrm>
            <a:off x="8107457" y="609600"/>
            <a:ext cx="4084238" cy="19804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100" spc="78" dirty="0">
                <a:solidFill>
                  <a:srgbClr val="FFFFFF"/>
                </a:solidFill>
                <a:latin typeface="Noto Sans Medium" panose="020B0502040504020204" pitchFamily="34" charset="0"/>
                <a:ea typeface="Noto Sans Medium" panose="020B0502040504020204" pitchFamily="34" charset="-122"/>
                <a:cs typeface="Noto Sans Medium" panose="020B0502040504020204" pitchFamily="34" charset="-120"/>
              </a:rPr>
              <a:t>LUỒNG REQUEST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107457" y="1042591"/>
            <a:ext cx="3474653" cy="137279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Frontend → Backend → AI service → Backend → Frontend</a:t>
            </a:r>
            <a:endParaRPr lang="en-US" sz="16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Success:</a:t>
            </a: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prediction + request_id. </a:t>
            </a:r>
            <a:r>
              <a:rPr lang="en-US" sz="1600" b="1" dirty="0">
                <a:solidFill>
                  <a:srgbClr val="FFFFFF"/>
                </a:solidFill>
                <a:latin typeface="Arial Bold" pitchFamily="34" charset="0"/>
                <a:ea typeface="Arial Bold" pitchFamily="34" charset="-122"/>
                <a:cs typeface="Arial Bold" pitchFamily="34" charset="-120"/>
              </a:rPr>
              <a:t>Error:</a:t>
            </a:r>
            <a:r>
              <a:rPr lang="en-US" sz="16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code + message + request_id.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107457" y="2650331"/>
            <a:ext cx="3474653" cy="69324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healthcheck và depends_on giúp luồng ổn định; ngrok/localtunnel hỗ trợ expose khi demo.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10386</Words>
  <Application>WPS Presentation</Application>
  <PresentationFormat>On-screen Show (16:9)</PresentationFormat>
  <Paragraphs>389</Paragraphs>
  <Slides>23</Slides>
  <Notes>23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45" baseType="lpstr">
      <vt:lpstr>Arial</vt:lpstr>
      <vt:lpstr>SimSun</vt:lpstr>
      <vt:lpstr>Wingdings</vt:lpstr>
      <vt:lpstr>Noto Sans Medium</vt:lpstr>
      <vt:lpstr>Noto Sans Medium</vt:lpstr>
      <vt:lpstr>Noto Sans Medium</vt:lpstr>
      <vt:lpstr>Arial</vt:lpstr>
      <vt:lpstr>Arial</vt:lpstr>
      <vt:lpstr>Arial Bold</vt:lpstr>
      <vt:lpstr>Arial Bold</vt:lpstr>
      <vt:lpstr>Arial Bold</vt:lpstr>
      <vt:lpstr>Calibri</vt:lpstr>
      <vt:lpstr>Microsoft YaHei</vt:lpstr>
      <vt:lpstr>Arial Unicode MS</vt:lpstr>
      <vt:lpstr>Lexend Medium</vt:lpstr>
      <vt:lpstr>Lexend Medium</vt:lpstr>
      <vt:lpstr>Lexend Medium</vt:lpstr>
      <vt:lpstr>Consolas</vt:lpstr>
      <vt:lpstr>Consolas</vt:lpstr>
      <vt:lpstr>Consolas</vt:lpstr>
      <vt:lpstr>Calibri Light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Thanh</cp:lastModifiedBy>
  <cp:revision>3</cp:revision>
  <dcterms:created xsi:type="dcterms:W3CDTF">2026-10-02T21:06:00Z</dcterms:created>
  <dcterms:modified xsi:type="dcterms:W3CDTF">2026-10-02T21:14:48Z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61D3C75FD0944E798D2D808C716951DA_12</vt:lpwstr>
  </property>
  <property fmtid="{D5CDD505-2E9C-101B-9397-08002B2CF9AE}" pid="3" name="KSOProductBuildVer">
    <vt:lpwstr>1033-12.1.0.28485</vt:lpwstr>
  </property>
</Properties>
</file>