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1365" cy="6858000"/>
  <p:notesSz cx="6858000" cy="12191365"/>
  <p:embeddedFontLst>
    <p:embeddedFont>
      <p:font typeface="SimSun" panose="02010600030101010101" pitchFamily="2" charset="-122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 panose="02020603050405020304"/>
          <a:ea typeface="Times New Roman" panose="02020603050405020304"/>
          <a:cs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02" name="Panel"/>
          <p:cNvSpPr/>
          <p:nvPr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173F63"/>
          </a:solidFill>
          <a:ln>
            <a:noFill/>
          </a:ln>
        </p:spPr>
      </p:sp>
      <p:sp>
        <p:nvSpPr>
          <p:cNvPr id="103" name="Ring"/>
          <p:cNvSpPr/>
          <p:nvPr/>
        </p:nvSpPr>
        <p:spPr>
          <a:xfrm>
            <a:off x="8229600" y="1508760"/>
            <a:ext cx="3840480" cy="3840480"/>
          </a:xfrm>
          <a:prstGeom prst="ellipse">
            <a:avLst/>
          </a:prstGeom>
          <a:noFill/>
          <a:ln w="15875">
            <a:solidFill>
              <a:srgbClr val="FFFFFF">
                <a:alpha val="14000"/>
              </a:srgbClr>
            </a:solidFill>
          </a:ln>
        </p:spPr>
      </p:sp>
      <p:sp>
        <p:nvSpPr>
          <p:cNvPr id="104" name="Ring"/>
          <p:cNvSpPr/>
          <p:nvPr/>
        </p:nvSpPr>
        <p:spPr>
          <a:xfrm>
            <a:off x="8686800" y="1965960"/>
            <a:ext cx="2926080" cy="2926080"/>
          </a:xfrm>
          <a:prstGeom prst="ellipse">
            <a:avLst/>
          </a:prstGeom>
          <a:noFill/>
          <a:ln w="15875">
            <a:solidFill>
              <a:srgbClr val="FFFFFF">
                <a:alpha val="22000"/>
              </a:srgbClr>
            </a:solidFill>
          </a:ln>
        </p:spPr>
      </p:sp>
      <p:sp>
        <p:nvSpPr>
          <p:cNvPr id="105" name="Ring"/>
          <p:cNvSpPr/>
          <p:nvPr/>
        </p:nvSpPr>
        <p:spPr>
          <a:xfrm>
            <a:off x="9189720" y="2468880"/>
            <a:ext cx="1920240" cy="1920240"/>
          </a:xfrm>
          <a:prstGeom prst="ellipse">
            <a:avLst/>
          </a:prstGeom>
          <a:noFill/>
          <a:ln w="15875">
            <a:solidFill>
              <a:srgbClr val="FFFFFF">
                <a:alpha val="32000"/>
              </a:srgbClr>
            </a:solidFill>
          </a:ln>
        </p:spPr>
      </p:sp>
      <p:sp>
        <p:nvSpPr>
          <p:cNvPr id="106" name="Core"/>
          <p:cNvSpPr/>
          <p:nvPr/>
        </p:nvSpPr>
        <p:spPr>
          <a:xfrm>
            <a:off x="9692640" y="2971800"/>
            <a:ext cx="914400" cy="91440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</p:sp>
      <p:sp>
        <p:nvSpPr>
          <p:cNvPr id="107" name="Eyebrow"/>
          <p:cNvSpPr txBox="1"/>
          <p:nvPr/>
        </p:nvSpPr>
        <p:spPr>
          <a:xfrm>
            <a:off x="731520" y="960904"/>
            <a:ext cx="6858000" cy="2186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spc="150" dirty="0">
                <a:solidFill>
                  <a:srgbClr val="A9C7E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DỰ ÁN MACHINE LEARNING</a:t>
            </a:r>
            <a:endParaRPr lang="en-US" sz="1400" b="1" spc="150" dirty="0">
              <a:solidFill>
                <a:srgbClr val="A9C7E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8" name="Title"/>
          <p:cNvSpPr txBox="1"/>
          <p:nvPr/>
        </p:nvSpPr>
        <p:spPr>
          <a:xfrm>
            <a:off x="731520" y="1408126"/>
            <a:ext cx="6858000" cy="137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Dự đoán khả năng trúng tuyển sau đại học</a:t>
            </a:r>
            <a:endParaRPr lang="en-US" sz="4400" b="1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9" name="Subtitle"/>
          <p:cNvSpPr txBox="1"/>
          <p:nvPr/>
        </p:nvSpPr>
        <p:spPr>
          <a:xfrm>
            <a:off x="731520" y="3102366"/>
            <a:ext cx="6858000" cy="6246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DCE8F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Từ 400 hồ sơ Graduate Admission 2 đến mô hình hồi quy và ứng dụng web triển khai được.</a:t>
            </a:r>
            <a:endParaRPr lang="en-US" sz="2000" dirty="0">
              <a:solidFill>
                <a:srgbClr val="DCE8F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0" name="Footnote"/>
          <p:cNvSpPr txBox="1"/>
          <p:nvPr/>
        </p:nvSpPr>
        <p:spPr>
          <a:xfrm>
            <a:off x="731520" y="5647242"/>
            <a:ext cx="6858000" cy="2498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A9C7E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Báo cáo dự án: dữ liệu, mô hình, đánh giá và sản phẩm.</a:t>
            </a:r>
            <a:endParaRPr lang="en-US" sz="1600" dirty="0">
              <a:solidFill>
                <a:srgbClr val="A9C7E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BÀI TOÁN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Ước tính Chance of Admit từ hồ sơ ứng viên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30425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Đầu vào là 7 đặc trưng học thuật và hồ sơ: GRE Score, TOEFL Score, University Rating, SOP, LOR, CGPA, Research.</a:t>
            </a:r>
            <a:endParaRPr lang="en-US" sz="20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Đầu ra là xác suất trúng tuyển sau đại học, giữ ở dạng liên tục để người dùng đọc trực tiếp.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Bản chất: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bài toán hồi quy; cần dự đoán ổn định, sai số thấp và có thể đưa vào sản phẩm.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028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16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15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MỤC TIÊU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2354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Dự đoán được khả năng trúng tuyển của 1 bộ hồ sơ mới</a:t>
            </a:r>
            <a:endParaRPr lang="en-US" sz="2000" dirty="0"/>
          </a:p>
        </p:txBody>
      </p:sp>
      <p:sp>
        <p:nvSpPr>
          <p:cNvPr id="117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43119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TỔNG QUAN NỘI DUNG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479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Luồng trình bày của dự 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668441"/>
            <a:ext cx="5430404" cy="28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Dataset và quy trình chuẩn bị dữ liệu.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góc nhìn EDA: phân bố, tương quan, CGPA, điểm thi và Research.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mô hình, nguyên lý, ưu/nhược điểm và đánh giá định lượng.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Lựa chọn Linear Regression cho triển khai.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App, Docker Compose, API và 3 cổng dịch vụ.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19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18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MẠCH LOGIC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1096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Hiểu dữ liệu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→ kiểm chứng tín hiệu → thử mô hình → chọn mô hình → đóng gói thành sản phẩm.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16248" y="2412972"/>
            <a:ext cx="1146543" cy="36576"/>
          </a:xfrm>
          <a:prstGeom prst="roundRect">
            <a:avLst>
              <a:gd name="adj" fmla="val 49999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7716248" y="2723868"/>
            <a:ext cx="3869000" cy="809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Mỗi phần trả lời một câu hỏi: dữ liệu nói gì, mô hình nào phù hợp, và người dùng gọi dự đoán ra sao?</a:t>
            </a:r>
            <a:endParaRPr lang="en-US" sz="1600" dirty="0"/>
          </a:p>
        </p:txBody>
      </p:sp>
      <p:sp>
        <p:nvSpPr>
          <p:cNvPr id="120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DATASET · GRADUATE ADMISSION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Dữ liệu từ Kaggle: 400 hồ sơ, biến số rõ ràng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2002155"/>
            <a:ext cx="5430520" cy="8883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Bộ dữ liệu gồm 400 mẫu; mỗi dòng là một ứng viên và mục tiêu là Chance of Admit.</a:t>
            </a:r>
            <a:endParaRPr lang="en-US" sz="2000" dirty="0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indent="0" algn="l">
              <a:lnSpc>
                <a:spcPct val="117000"/>
              </a:lnSpc>
              <a:buNone/>
            </a:pPr>
            <a:r>
              <a:rPr lang="en-US" alt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Tên dataset: Graduate Admission 2</a:t>
            </a:r>
            <a:endParaRPr lang="en-US" altLang="en-US" sz="2000" dirty="0">
              <a:solidFill>
                <a:srgbClr val="22222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09585" y="3153307"/>
          <a:ext cx="5430404" cy="2194560"/>
        </p:xfrm>
        <a:graphic>
          <a:graphicData uri="http://schemas.openxmlformats.org/drawingml/2006/table">
            <a:tbl>
              <a:tblPr/>
              <a:tblGrid>
                <a:gridCol w="2715152"/>
                <a:gridCol w="2715252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Nhóm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Trường dữ liệu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Học thuật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GRE Score, TOEFL Score, CGPA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Hồ sơ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University Rating, SOP, LOR, Research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Mục tiêu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Chance of Admit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22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21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7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ĐIỂM CẦN GIỮ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16248" y="1042415"/>
            <a:ext cx="3869000" cy="2354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Biến đầu vào có ý nghĩa trực tiếp với hồ sơ.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là biến nhị phân, giữ đúng ngữ nghĩa 0/1.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Thống kê mô tả và kiểm tra ngoại lệ đi trước modeling.</a:t>
            </a:r>
            <a:endParaRPr lang="en-US" sz="2000" dirty="0"/>
          </a:p>
        </p:txBody>
      </p:sp>
      <p:sp>
        <p:nvSpPr>
          <p:cNvPr id="123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303495"/>
            <a:ext cx="5788152" cy="374914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3" name="Text 0"/>
          <p:cNvSpPr/>
          <p:nvPr/>
        </p:nvSpPr>
        <p:spPr>
          <a:xfrm>
            <a:off x="6766560" y="612648"/>
            <a:ext cx="4812792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EDA 1 · PHÂN BỐ TARGET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4812792" cy="14391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Chance of Admit tập trung ở vùng xác suất trung bình - cao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2627883"/>
            <a:ext cx="4812792" cy="31156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Trực quan:</a:t>
            </a:r>
            <a:r>
              <a:rPr lang="en-US" altLang="en-US" sz="1600" dirty="0"/>
              <a:t> Biểu </a:t>
            </a:r>
            <a:r>
              <a:rPr lang="en-US" altLang="en-US" sz="1600" dirty="0"/>
              <a:t>đ</a:t>
            </a:r>
            <a:r>
              <a:rPr lang="en-US" altLang="en-US" sz="1600" dirty="0"/>
              <a:t>ồ histogram kết hợp KDE cho thấy phân bố của tỷ lệ trúng tuyển có xu h</a:t>
            </a:r>
            <a:r>
              <a:rPr lang="en-US" altLang="en-US" sz="1600" dirty="0"/>
              <a:t>ư</a:t>
            </a:r>
            <a:r>
              <a:rPr lang="en-US" altLang="en-US" sz="1600" dirty="0"/>
              <a:t>ớng hơi lệch trái, tập trung chủ yếu ở khoảng từ 0.6 </a:t>
            </a:r>
            <a:r>
              <a:rPr lang="en-US" altLang="en-US" sz="1600" dirty="0"/>
              <a:t>đ</a:t>
            </a:r>
            <a:r>
              <a:rPr lang="en-US" altLang="en-US" sz="1600" dirty="0"/>
              <a:t>ến 0.85, ít hồ sơ có </a:t>
            </a:r>
            <a:r>
              <a:rPr lang="en-US" altLang="en-US" sz="1600" dirty="0"/>
              <a:t>đ</a:t>
            </a:r>
            <a:r>
              <a:rPr lang="en-US" altLang="en-US" sz="1600" dirty="0"/>
              <a:t>iểm quá thấp d</a:t>
            </a:r>
            <a:r>
              <a:rPr lang="en-US" altLang="en-US" sz="1600" dirty="0"/>
              <a:t>ư</a:t>
            </a:r>
            <a:r>
              <a:rPr lang="en-US" altLang="en-US" sz="1600" dirty="0"/>
              <a:t>ới 0.4 hoặc quá cao sát 1.0.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Ý </a:t>
            </a:r>
            <a:r>
              <a:rPr lang="en-US" altLang="en-US" sz="1600" b="1" dirty="0"/>
              <a:t>ngh</a:t>
            </a:r>
            <a:r>
              <a:rPr lang="en-US" altLang="en-US" sz="1600" b="1" dirty="0"/>
              <a:t>ĩ</a:t>
            </a:r>
            <a:r>
              <a:rPr lang="en-US" altLang="en-US" sz="1600" b="1" dirty="0"/>
              <a:t>a với bài toán</a:t>
            </a:r>
            <a:r>
              <a:rPr lang="en-US" altLang="en-US" sz="1600" dirty="0"/>
              <a:t>: Giúp nhóm nhận diện </a:t>
            </a:r>
            <a:r>
              <a:rPr lang="en-US" altLang="en-US" sz="1600" dirty="0"/>
              <a:t>đư</a:t>
            </a:r>
            <a:r>
              <a:rPr lang="en-US" altLang="en-US" sz="1600" dirty="0"/>
              <a:t>ợc khoảng giá trị phổ biến của cơ hội trúng tuyển.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Quyết </a:t>
            </a:r>
            <a:r>
              <a:rPr lang="en-US" altLang="en-US" sz="1600" b="1" dirty="0"/>
              <a:t>đ</a:t>
            </a:r>
            <a:r>
              <a:rPr lang="en-US" altLang="en-US" sz="1600" b="1" dirty="0"/>
              <a:t>ịnh xử l</a:t>
            </a:r>
            <a:r>
              <a:rPr lang="en-US" altLang="en-US" sz="1600" b="1" dirty="0"/>
              <a:t>ý:</a:t>
            </a:r>
            <a:r>
              <a:rPr lang="en-US" altLang="en-US" sz="1600" dirty="0"/>
              <a:t> </a:t>
            </a:r>
            <a:r>
              <a:rPr lang="en-US" altLang="en-US" sz="1600" dirty="0"/>
              <a:t>Vì </a:t>
            </a:r>
            <a:r>
              <a:rPr lang="en-US" altLang="en-US" sz="1600" dirty="0"/>
              <a:t>đ</a:t>
            </a:r>
            <a:r>
              <a:rPr lang="en-US" altLang="en-US" sz="1600" dirty="0"/>
              <a:t>ây là bài toán hồi quy với biến mục tiêu liên tục, ta không cần biến </a:t>
            </a:r>
            <a:r>
              <a:rPr lang="en-US" altLang="en-US" sz="1600" dirty="0"/>
              <a:t>đ</a:t>
            </a:r>
            <a:r>
              <a:rPr lang="en-US" altLang="en-US" sz="1600" dirty="0"/>
              <a:t>ổi log hay xử l</a:t>
            </a:r>
            <a:r>
              <a:rPr lang="en-US" altLang="en-US" sz="1600" dirty="0"/>
              <a:t>ý </a:t>
            </a:r>
            <a:r>
              <a:rPr lang="en-US" altLang="en-US" sz="1600" dirty="0"/>
              <a:t>mất cân bằng phân phối quá phức tạp ở biến mục tiêu.</a:t>
            </a:r>
            <a:endParaRPr lang="en-US" altLang="en-US" sz="1600" dirty="0"/>
          </a:p>
        </p:txBody>
      </p:sp>
      <p:sp>
        <p:nvSpPr>
          <p:cNvPr id="124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12648"/>
            <a:ext cx="5788152" cy="516321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3" name="Text 0"/>
          <p:cNvSpPr/>
          <p:nvPr/>
        </p:nvSpPr>
        <p:spPr>
          <a:xfrm>
            <a:off x="6766560" y="612648"/>
            <a:ext cx="4812792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EDA 2 · MA TRẬN TƯƠNG QUAN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4812792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CGPA, GRE và TOEFL là các tín hiệu nổi bật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2148162"/>
            <a:ext cx="4812792" cy="340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Trực quan:</a:t>
            </a:r>
            <a:r>
              <a:rPr lang="en-US" altLang="en-US" sz="1600" dirty="0"/>
              <a:t>Biểu </a:t>
            </a:r>
            <a:r>
              <a:rPr lang="en-US" altLang="en-US" sz="1600" dirty="0"/>
              <a:t>đ</a:t>
            </a:r>
            <a:r>
              <a:rPr lang="en-US" altLang="en-US" sz="1600" dirty="0"/>
              <a:t>ồ thể hiện mức </a:t>
            </a:r>
            <a:r>
              <a:rPr lang="en-US" altLang="en-US" sz="1600" dirty="0"/>
              <a:t>đ</a:t>
            </a:r>
            <a:r>
              <a:rPr lang="en-US" altLang="en-US" sz="1600" dirty="0"/>
              <a:t>ộ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tuyến tính giữa các cột. Cột CGPA 0.87, GRE Score 0.80 và TOEFL Score 0.79 có hệ số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rất cao với Chance of Admit.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Ý </a:t>
            </a:r>
            <a:r>
              <a:rPr lang="en-US" altLang="en-US" sz="1600" b="1" dirty="0"/>
              <a:t>ngh</a:t>
            </a:r>
            <a:r>
              <a:rPr lang="en-US" altLang="en-US" sz="1600" b="1" dirty="0"/>
              <a:t>ĩ</a:t>
            </a:r>
            <a:r>
              <a:rPr lang="en-US" altLang="en-US" sz="1600" b="1" dirty="0"/>
              <a:t>a với bài toán:</a:t>
            </a:r>
            <a:r>
              <a:rPr lang="en-US" altLang="en-US" sz="1600" dirty="0"/>
              <a:t> Xác </a:t>
            </a:r>
            <a:r>
              <a:rPr lang="en-US" altLang="en-US" sz="1600" dirty="0"/>
              <a:t>đ</a:t>
            </a:r>
            <a:r>
              <a:rPr lang="en-US" altLang="en-US" sz="1600" dirty="0"/>
              <a:t>ịnh r</a:t>
            </a:r>
            <a:r>
              <a:rPr lang="en-US" altLang="en-US" sz="1600" dirty="0"/>
              <a:t>õ </a:t>
            </a:r>
            <a:r>
              <a:rPr lang="en-US" altLang="en-US" sz="1600" dirty="0"/>
              <a:t>các </a:t>
            </a:r>
            <a:r>
              <a:rPr lang="en-US" altLang="en-US" sz="1600" dirty="0"/>
              <a:t>đ</a:t>
            </a:r>
            <a:r>
              <a:rPr lang="en-US" altLang="en-US" sz="1600" dirty="0"/>
              <a:t>ặc tr</a:t>
            </a:r>
            <a:r>
              <a:rPr lang="en-US" altLang="en-US" sz="1600" dirty="0"/>
              <a:t>ư</a:t>
            </a:r>
            <a:r>
              <a:rPr lang="en-US" altLang="en-US" sz="1600" dirty="0"/>
              <a:t>ng có sức nặng lớn nhất tác </a:t>
            </a:r>
            <a:r>
              <a:rPr lang="en-US" altLang="en-US" sz="1600" dirty="0"/>
              <a:t>đ</a:t>
            </a:r>
            <a:r>
              <a:rPr lang="en-US" altLang="en-US" sz="1600" dirty="0"/>
              <a:t>ộng </a:t>
            </a:r>
            <a:r>
              <a:rPr lang="en-US" altLang="en-US" sz="1600" dirty="0"/>
              <a:t>đ</a:t>
            </a:r>
            <a:r>
              <a:rPr lang="en-US" altLang="en-US" sz="1600" dirty="0"/>
              <a:t>ến quyết </a:t>
            </a:r>
            <a:r>
              <a:rPr lang="en-US" altLang="en-US" sz="1600" dirty="0"/>
              <a:t>đ</a:t>
            </a:r>
            <a:r>
              <a:rPr lang="en-US" altLang="en-US" sz="1600" dirty="0"/>
              <a:t>ịnh trúng tuyển của hội </a:t>
            </a:r>
            <a:r>
              <a:rPr lang="en-US" altLang="en-US" sz="1600" dirty="0"/>
              <a:t>đ</a:t>
            </a:r>
            <a:r>
              <a:rPr lang="en-US" altLang="en-US" sz="1600" dirty="0"/>
              <a:t>ồng tuyển sinh.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Quyết </a:t>
            </a:r>
            <a:r>
              <a:rPr lang="en-US" altLang="en-US" sz="1600" b="1" dirty="0"/>
              <a:t>đ</a:t>
            </a:r>
            <a:r>
              <a:rPr lang="en-US" altLang="en-US" sz="1600" b="1" dirty="0"/>
              <a:t>ịnh xử l</a:t>
            </a:r>
            <a:r>
              <a:rPr lang="en-US" altLang="en-US" sz="1600" b="1" dirty="0"/>
              <a:t>ý:</a:t>
            </a:r>
            <a:r>
              <a:rPr lang="en-US" altLang="en-US" sz="1600" dirty="0"/>
              <a:t> </a:t>
            </a:r>
            <a:r>
              <a:rPr lang="en-US" altLang="en-US" sz="1600" dirty="0"/>
              <a:t>Giữ lại toàn bộ các cột này vì </a:t>
            </a:r>
            <a:r>
              <a:rPr lang="en-US" altLang="en-US" sz="1600" dirty="0"/>
              <a:t>đ</a:t>
            </a:r>
            <a:r>
              <a:rPr lang="en-US" altLang="en-US" sz="1600" dirty="0"/>
              <a:t>ều có </a:t>
            </a:r>
            <a:r>
              <a:rPr lang="en-US" altLang="en-US" sz="1600" dirty="0"/>
              <a:t>đ</a:t>
            </a:r>
            <a:r>
              <a:rPr lang="en-US" altLang="en-US" sz="1600" dirty="0"/>
              <a:t>ộ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mạnh với mục tiêu, không có cặp biến nào bị trùng lặp thông tin tuyệt </a:t>
            </a:r>
            <a:r>
              <a:rPr lang="en-US" altLang="en-US" sz="1600" dirty="0"/>
              <a:t>đ</a:t>
            </a:r>
            <a:r>
              <a:rPr lang="en-US" altLang="en-US" sz="1600" dirty="0"/>
              <a:t>ối.</a:t>
            </a:r>
            <a:endParaRPr lang="en-US" altLang="en-US" sz="1600" dirty="0"/>
          </a:p>
        </p:txBody>
      </p:sp>
      <p:sp>
        <p:nvSpPr>
          <p:cNvPr id="125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163757"/>
            <a:ext cx="5788152" cy="3841228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3" name="Text 0"/>
          <p:cNvSpPr/>
          <p:nvPr/>
        </p:nvSpPr>
        <p:spPr>
          <a:xfrm>
            <a:off x="6766560" y="612648"/>
            <a:ext cx="4812792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EDA 3 · CGPA VÀ TARGET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4812792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CGPA tăng thì Chance of Admit có xu hướng tăng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2148162"/>
            <a:ext cx="4812792" cy="3407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Trực quan:</a:t>
            </a:r>
            <a:r>
              <a:rPr lang="en-US" altLang="en-US" sz="1600" dirty="0"/>
              <a:t>Biểu </a:t>
            </a:r>
            <a:r>
              <a:rPr lang="en-US" altLang="en-US" sz="1600" dirty="0"/>
              <a:t>đ</a:t>
            </a:r>
            <a:r>
              <a:rPr lang="en-US" altLang="en-US" sz="1600" dirty="0"/>
              <a:t>ồ thể hiện mức </a:t>
            </a:r>
            <a:r>
              <a:rPr lang="en-US" altLang="en-US" sz="1600" dirty="0"/>
              <a:t>đ</a:t>
            </a:r>
            <a:r>
              <a:rPr lang="en-US" altLang="en-US" sz="1600" dirty="0"/>
              <a:t>ộ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tuyến tính giữa các cột. Cột CGPA 0.87, GRE Score 0.80 và TOEFL Score 0.79 có hệ số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rất cao với Chance of Admit.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Ý </a:t>
            </a:r>
            <a:r>
              <a:rPr lang="en-US" altLang="en-US" sz="1600" b="1" dirty="0"/>
              <a:t>ngh</a:t>
            </a:r>
            <a:r>
              <a:rPr lang="en-US" altLang="en-US" sz="1600" b="1" dirty="0"/>
              <a:t>ĩ</a:t>
            </a:r>
            <a:r>
              <a:rPr lang="en-US" altLang="en-US" sz="1600" b="1" dirty="0"/>
              <a:t>a với bài toán:</a:t>
            </a:r>
            <a:r>
              <a:rPr lang="en-US" altLang="en-US" sz="1600" dirty="0"/>
              <a:t> Xác </a:t>
            </a:r>
            <a:r>
              <a:rPr lang="en-US" altLang="en-US" sz="1600" dirty="0"/>
              <a:t>đ</a:t>
            </a:r>
            <a:r>
              <a:rPr lang="en-US" altLang="en-US" sz="1600" dirty="0"/>
              <a:t>ịnh r</a:t>
            </a:r>
            <a:r>
              <a:rPr lang="en-US" altLang="en-US" sz="1600" dirty="0"/>
              <a:t>õ </a:t>
            </a:r>
            <a:r>
              <a:rPr lang="en-US" altLang="en-US" sz="1600" dirty="0"/>
              <a:t>các </a:t>
            </a:r>
            <a:r>
              <a:rPr lang="en-US" altLang="en-US" sz="1600" dirty="0"/>
              <a:t>đ</a:t>
            </a:r>
            <a:r>
              <a:rPr lang="en-US" altLang="en-US" sz="1600" dirty="0"/>
              <a:t>ặc tr</a:t>
            </a:r>
            <a:r>
              <a:rPr lang="en-US" altLang="en-US" sz="1600" dirty="0"/>
              <a:t>ư</a:t>
            </a:r>
            <a:r>
              <a:rPr lang="en-US" altLang="en-US" sz="1600" dirty="0"/>
              <a:t>ng có sức nặng lớn nhất tác </a:t>
            </a:r>
            <a:r>
              <a:rPr lang="en-US" altLang="en-US" sz="1600" dirty="0"/>
              <a:t>đ</a:t>
            </a:r>
            <a:r>
              <a:rPr lang="en-US" altLang="en-US" sz="1600" dirty="0"/>
              <a:t>ộng </a:t>
            </a:r>
            <a:r>
              <a:rPr lang="en-US" altLang="en-US" sz="1600" dirty="0"/>
              <a:t>đ</a:t>
            </a:r>
            <a:r>
              <a:rPr lang="en-US" altLang="en-US" sz="1600" dirty="0"/>
              <a:t>ến quyết </a:t>
            </a:r>
            <a:r>
              <a:rPr lang="en-US" altLang="en-US" sz="1600" dirty="0"/>
              <a:t>đ</a:t>
            </a:r>
            <a:r>
              <a:rPr lang="en-US" altLang="en-US" sz="1600" dirty="0"/>
              <a:t>ịnh trúng tuyển của hội </a:t>
            </a:r>
            <a:r>
              <a:rPr lang="en-US" altLang="en-US" sz="1600" dirty="0"/>
              <a:t>đ</a:t>
            </a:r>
            <a:r>
              <a:rPr lang="en-US" altLang="en-US" sz="1600" dirty="0"/>
              <a:t>ồng tuyển sinh.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Quyết </a:t>
            </a:r>
            <a:r>
              <a:rPr lang="en-US" altLang="en-US" sz="1600" b="1" dirty="0"/>
              <a:t>đ</a:t>
            </a:r>
            <a:r>
              <a:rPr lang="en-US" altLang="en-US" sz="1600" b="1" dirty="0"/>
              <a:t>ịnh xử l</a:t>
            </a:r>
            <a:r>
              <a:rPr lang="en-US" altLang="en-US" sz="1600" b="1" dirty="0"/>
              <a:t>ý:</a:t>
            </a:r>
            <a:r>
              <a:rPr lang="en-US" altLang="en-US" sz="1600" dirty="0"/>
              <a:t> </a:t>
            </a:r>
            <a:r>
              <a:rPr lang="en-US" altLang="en-US" sz="1600" dirty="0"/>
              <a:t>Giữ lại toàn bộ các cột này vì </a:t>
            </a:r>
            <a:r>
              <a:rPr lang="en-US" altLang="en-US" sz="1600" dirty="0"/>
              <a:t>đ</a:t>
            </a:r>
            <a:r>
              <a:rPr lang="en-US" altLang="en-US" sz="1600" dirty="0"/>
              <a:t>ều có </a:t>
            </a:r>
            <a:r>
              <a:rPr lang="en-US" altLang="en-US" sz="1600" dirty="0"/>
              <a:t>đ</a:t>
            </a:r>
            <a:r>
              <a:rPr lang="en-US" altLang="en-US" sz="1600" dirty="0"/>
              <a:t>ộ t</a:t>
            </a:r>
            <a:r>
              <a:rPr lang="en-US" altLang="en-US" sz="1600" dirty="0"/>
              <a:t>ư</a:t>
            </a:r>
            <a:r>
              <a:rPr lang="en-US" altLang="en-US" sz="1600" dirty="0"/>
              <a:t>ơng quan mạnh với mục tiêu, không có cặp biến nào bị trùng lặp thông tin tuyệt </a:t>
            </a:r>
            <a:r>
              <a:rPr lang="en-US" altLang="en-US" sz="1600" dirty="0"/>
              <a:t>đ</a:t>
            </a:r>
            <a:r>
              <a:rPr lang="en-US" altLang="en-US" sz="1600" dirty="0"/>
              <a:t>ối.</a:t>
            </a:r>
            <a:endParaRPr lang="en-US" altLang="en-US" sz="1600" dirty="0"/>
          </a:p>
        </p:txBody>
      </p:sp>
      <p:sp>
        <p:nvSpPr>
          <p:cNvPr id="126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53446"/>
            <a:ext cx="5788152" cy="2341570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3" name="Text 0"/>
          <p:cNvSpPr/>
          <p:nvPr/>
        </p:nvSpPr>
        <p:spPr>
          <a:xfrm>
            <a:off x="6766560" y="612648"/>
            <a:ext cx="4812792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EDA 4 · GRE VÀ TOEFL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4812792" cy="14391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Điểm thi có độ phân tán hữu ích, không thay thế CGPA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2627883"/>
            <a:ext cx="4812792" cy="34079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Trực quan:</a:t>
            </a:r>
            <a:r>
              <a:rPr lang="en-US" altLang="en-US" sz="1600" dirty="0"/>
              <a:t> Biểu </a:t>
            </a:r>
            <a:r>
              <a:rPr lang="en-US" altLang="en-US" sz="1600" dirty="0"/>
              <a:t>đ</a:t>
            </a:r>
            <a:r>
              <a:rPr lang="en-US" altLang="en-US" sz="1600" dirty="0"/>
              <a:t>ồ hộp (boxplot) cho thấy phân bố </a:t>
            </a:r>
            <a:r>
              <a:rPr lang="en-US" altLang="en-US" sz="1600" dirty="0"/>
              <a:t>đ</a:t>
            </a:r>
            <a:r>
              <a:rPr lang="en-US" altLang="en-US" sz="1600" dirty="0"/>
              <a:t>iểm GRE và TOEFL tập trung </a:t>
            </a:r>
            <a:r>
              <a:rPr lang="en-US" altLang="en-US" sz="1600" dirty="0"/>
              <a:t>đ</a:t>
            </a:r>
            <a:r>
              <a:rPr lang="en-US" altLang="en-US" sz="1600" dirty="0"/>
              <a:t>ồng </a:t>
            </a:r>
            <a:r>
              <a:rPr lang="en-US" altLang="en-US" sz="1600" dirty="0"/>
              <a:t>đ</a:t>
            </a:r>
            <a:r>
              <a:rPr lang="en-US" altLang="en-US" sz="1600" dirty="0"/>
              <a:t>ều trong khoảng tứ phân vị, hầu nh</a:t>
            </a:r>
            <a:r>
              <a:rPr lang="en-US" altLang="en-US" sz="1600" dirty="0"/>
              <a:t>ư </a:t>
            </a:r>
            <a:r>
              <a:rPr lang="en-US" altLang="en-US" sz="1600" dirty="0"/>
              <a:t>không xuất hiện các giá trị ngoại lai (outliers) bất th</a:t>
            </a:r>
            <a:r>
              <a:rPr lang="en-US" altLang="en-US" sz="1600" dirty="0"/>
              <a:t>ư</a:t>
            </a:r>
            <a:r>
              <a:rPr lang="en-US" altLang="en-US" sz="1600" dirty="0"/>
              <a:t>ờng v</a:t>
            </a:r>
            <a:r>
              <a:rPr lang="en-US" altLang="en-US" sz="1600" dirty="0"/>
              <a:t>ư</a:t>
            </a:r>
            <a:r>
              <a:rPr lang="en-US" altLang="en-US" sz="1600" dirty="0"/>
              <a:t>ợt quá giới hạn hợp l</a:t>
            </a:r>
            <a:r>
              <a:rPr lang="en-US" altLang="en-US" sz="1600" dirty="0"/>
              <a:t>ý.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Ý </a:t>
            </a:r>
            <a:r>
              <a:rPr lang="en-US" altLang="en-US" sz="1600" b="1" dirty="0"/>
              <a:t>ngh</a:t>
            </a:r>
            <a:r>
              <a:rPr lang="en-US" altLang="en-US" sz="1600" b="1" dirty="0"/>
              <a:t>ĩ</a:t>
            </a:r>
            <a:r>
              <a:rPr lang="en-US" altLang="en-US" sz="1600" b="1" dirty="0"/>
              <a:t>a với bài toán:</a:t>
            </a:r>
            <a:r>
              <a:rPr lang="en-US" altLang="en-US" sz="1600" dirty="0"/>
              <a:t> Dữ liệu </a:t>
            </a:r>
            <a:r>
              <a:rPr lang="en-US" altLang="en-US" sz="1600" dirty="0"/>
              <a:t>đ</a:t>
            </a:r>
            <a:r>
              <a:rPr lang="en-US" altLang="en-US" sz="1600" dirty="0"/>
              <a:t>ầu vào từ các kỳ thi chuẩn hóa </a:t>
            </a:r>
            <a:r>
              <a:rPr lang="en-US" altLang="en-US" sz="1600" dirty="0"/>
              <a:t>đ</a:t>
            </a:r>
            <a:r>
              <a:rPr lang="en-US" altLang="en-US" sz="1600" dirty="0"/>
              <a:t>ã </a:t>
            </a:r>
            <a:r>
              <a:rPr lang="en-US" altLang="en-US" sz="1600" dirty="0"/>
              <a:t>đư</a:t>
            </a:r>
            <a:r>
              <a:rPr lang="en-US" altLang="en-US" sz="1600" dirty="0"/>
              <a:t>ợc chuẩn hóa thang </a:t>
            </a:r>
            <a:r>
              <a:rPr lang="en-US" altLang="en-US" sz="1600" dirty="0"/>
              <a:t>đ</a:t>
            </a:r>
            <a:r>
              <a:rPr lang="en-US" altLang="en-US" sz="1600" dirty="0"/>
              <a:t>iểm tốt, không có lỗi nhập liệu (nh</a:t>
            </a:r>
            <a:r>
              <a:rPr lang="en-US" altLang="en-US" sz="1600" dirty="0"/>
              <a:t>ư đ</a:t>
            </a:r>
            <a:r>
              <a:rPr lang="en-US" altLang="en-US" sz="1600" dirty="0"/>
              <a:t>iểm GRE &gt; 340 hay âm).</a:t>
            </a:r>
            <a:endParaRPr lang="en-US" alt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altLang="en-US" sz="1600" b="1" dirty="0"/>
              <a:t>Quyết </a:t>
            </a:r>
            <a:r>
              <a:rPr lang="en-US" altLang="en-US" sz="1600" b="1" dirty="0"/>
              <a:t>đ</a:t>
            </a:r>
            <a:r>
              <a:rPr lang="en-US" altLang="en-US" sz="1600" b="1" dirty="0"/>
              <a:t>ịnh xử l</a:t>
            </a:r>
            <a:r>
              <a:rPr lang="en-US" altLang="en-US" sz="1600" b="1" dirty="0"/>
              <a:t>ý:</a:t>
            </a:r>
            <a:r>
              <a:rPr lang="en-US" altLang="en-US" sz="1600" dirty="0"/>
              <a:t> </a:t>
            </a:r>
            <a:r>
              <a:rPr lang="en-US" altLang="en-US" sz="1600" dirty="0"/>
              <a:t>Giữ nguyên dữ liệu gốc, không cần phải cắt bỏ hay xử l</a:t>
            </a:r>
            <a:r>
              <a:rPr lang="en-US" altLang="en-US" sz="1600" dirty="0"/>
              <a:t>ý </a:t>
            </a:r>
            <a:r>
              <a:rPr lang="en-US" altLang="en-US" sz="1600" dirty="0"/>
              <a:t>ngoại lai (outlier clipping) cho hai cột này </a:t>
            </a:r>
            <a:r>
              <a:rPr lang="en-US" altLang="en-US" sz="1600" dirty="0"/>
              <a:t>đ</a:t>
            </a:r>
            <a:r>
              <a:rPr lang="en-US" altLang="en-US" sz="1600" dirty="0"/>
              <a:t>ể tránh làm mất thông tin hồ sơ thực tế</a:t>
            </a:r>
            <a:endParaRPr lang="en-US" altLang="en-US" sz="1600" dirty="0"/>
          </a:p>
        </p:txBody>
      </p:sp>
      <p:sp>
        <p:nvSpPr>
          <p:cNvPr id="127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14907"/>
            <a:ext cx="5788152" cy="4354268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3" name="Text 0"/>
          <p:cNvSpPr/>
          <p:nvPr/>
        </p:nvSpPr>
        <p:spPr>
          <a:xfrm>
            <a:off x="6766560" y="612648"/>
            <a:ext cx="4812792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EDA 5 · RESEARCH VÀ HỒ SƠ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766560" y="914400"/>
            <a:ext cx="4812792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Kinh nghiệm nghiên cứu bổ sung tín hiệu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766560" y="2148162"/>
            <a:ext cx="4812792" cy="28232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Trực quan: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nhóm Research = 1 và Research = 0 cho thấy khác biệt về tỷ lệ Chance of Admit.</a:t>
            </a:r>
            <a:endParaRPr lang="en-US" sz="1600" dirty="0"/>
          </a:p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Ý nghĩa với bài toán: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có 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54%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ứng viên có Research, tương ứng 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270/500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 biến nhị phân này bổ sung thông tin cho nhóm điểm học thuật.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Quyết định xử lý: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giữ Research đúng dạng 0/1, không biến đổi thành điểm liên tục; kết hợp với University Rating trung bình 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3.11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SOP 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3.37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LOR </a:t>
            </a:r>
            <a:r>
              <a:rPr lang="en-US" sz="16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3.48</a:t>
            </a:r>
            <a:r>
              <a:rPr lang="en-US" sz="16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sz="1600" dirty="0"/>
          </a:p>
        </p:txBody>
      </p:sp>
      <p:sp>
        <p:nvSpPr>
          <p:cNvPr id="128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MÔ HÌNH · THIẾT KẾ THỬ NGHIỆM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 mô hình hồi quy được đưa vào đánh giá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09585" y="2148162"/>
          <a:ext cx="5430404" cy="2570098"/>
        </p:xfrm>
        <a:graphic>
          <a:graphicData uri="http://schemas.openxmlformats.org/drawingml/2006/table">
            <a:tbl>
              <a:tblPr/>
              <a:tblGrid>
                <a:gridCol w="2715152"/>
                <a:gridCol w="2715252"/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Nhóm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Mô hình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Tuyến tính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Linear Regression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Ensemble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Random Forest, Gradient Boosting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Kernel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SVR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Lân cận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KNN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30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29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3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TẮC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Cùng dữ liệu, cùng cách chia và cùng bộ chỉ số: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MSE, RMSE, MAE, R²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16248" y="2047560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Mục tiêu không chỉ là điểm số tốt mà còn là mô hình có thể giải thích và triển khai.</a:t>
            </a:r>
            <a:endParaRPr lang="en-US" sz="1600" dirty="0"/>
          </a:p>
        </p:txBody>
      </p:sp>
      <p:sp>
        <p:nvSpPr>
          <p:cNvPr id="131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564887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 1 · LINEAR REGRESSION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Mốc chuẩn đơn giản và hiệu quả nhất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4347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lý: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học quan hệ tuyến tính giữa 7 đặc trưng và Chance of Admit bằng cách tối thiểu hóa tổng bình phương sai số.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Ưu: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dễ giải thích, huấn luyện nhanh, triển khai nhẹ.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Nhược: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giả định quan hệ gần tuyến tính, nhạy với ngoại lệ.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33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32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KẾT QUẢ / TINH CHỈNH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0.004617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0.067949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MAE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0.047957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R²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0.821208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Tinh chỉnh chính: kiểm tra scale, phần dư và hệ số; không cần tuning phức tạp.</a:t>
            </a:r>
            <a:endParaRPr lang="en-US" sz="1600" dirty="0"/>
          </a:p>
        </p:txBody>
      </p:sp>
      <p:sp>
        <p:nvSpPr>
          <p:cNvPr id="134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564887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 2 · RANDOM FOREST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Ổn định trước quan hệ phi tuyến và tương tác biến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069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lý: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ghép nhiều cây quyết định trên các mẫu và tập đặc trưng khác nhau, rồi lấy trung bình dự đoán.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Ưu: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bắt được phi tuyến, ít cần giả định phân phối.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Nhược: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nặng hơn và khó giải thích hơn tuyến tính.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36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35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KẾT QUẢ / TINH CHỈNH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0.004994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0.070669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MAE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0.049775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R²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0.806608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809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Quan tâm n_estimators, max_depth và min_samples_leaf để cân bằng ổn định với overfit.</a:t>
            </a:r>
            <a:endParaRPr lang="en-US" sz="1600" dirty="0"/>
          </a:p>
        </p:txBody>
      </p:sp>
      <p:sp>
        <p:nvSpPr>
          <p:cNvPr id="137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564887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 3 · GRADIENT BOOSTING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Ensemble tuần tự nhưng chưa vượt mốc tuyến tính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069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lý: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mỗi cây mới tập trung sửa phần dư của các cây trước, tạo ensemble tuần tự.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Ưu: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mô hình hóa phi tuyến tốt.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Nhược: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nhạy tham số, thời gian huấn luyện và kiểm soát overfit cao hơn.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39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38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KẾT QUẢ / TINH CHỈNH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0.005281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0.072669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MAE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0.050174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R²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0.795502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809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Tinh chỉnh learning_rate, n_estimators và max_depth; theo dõi validation để tránh học quá sâu.</a:t>
            </a:r>
            <a:endParaRPr lang="en-US" sz="1600" dirty="0"/>
          </a:p>
        </p:txBody>
      </p:sp>
      <p:sp>
        <p:nvSpPr>
          <p:cNvPr id="140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564887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 4 · SVR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Biên hồi quy linh hoạt, đổi lại chi phí vận hành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069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lý: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tìm một biên sai số nhỏ quanh hàm dự đoán; kernel cho phép biểu diễn quan hệ phi tuyến.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Ưu: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xử lý phi tuyến tốt khi dữ liệu được chuẩn hóa.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Nhược: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phụ thuộc kernel và tham số, kém thuận tiện để giải thích.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42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41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KẾT QUẢ / TINH CHỈNH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0.006203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0.078761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MAE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0.064808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R²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0.759781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Cần chuẩn hóa; thử kernel, C, gamma và epsilon, đồng thời kiểm soát chi phí tính toán.</a:t>
            </a:r>
            <a:endParaRPr lang="en-US" sz="1600" dirty="0"/>
          </a:p>
        </p:txBody>
      </p:sp>
      <p:sp>
        <p:nvSpPr>
          <p:cNvPr id="143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564887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 5 · KNN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Dễ hiểu nhưng phụ thuộc mạnh vào thang đo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0693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Nguyên lý: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dự đoán từ trung bình các điểm gần nhất trong không gian đặc trưng.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Ưu: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trực quan, ít giả định.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Nhược: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dự đoán chậm hơn khi dữ liệu tăng, nhạy với chuẩn hóa và lựa chọn 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45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44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KẾT QUẢ / TINH CHỈNH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0.006300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RMSE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0.079373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MAE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0.054225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· R²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0.756033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Chuẩn hóa trước khi tính khoảng cách; tinh chỉnh n_neighbors và metric.</a:t>
            </a:r>
            <a:endParaRPr lang="en-US" sz="1600" dirty="0"/>
          </a:p>
        </p:txBody>
      </p:sp>
      <p:sp>
        <p:nvSpPr>
          <p:cNvPr id="146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0688"/>
            <a:ext cx="11582110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 SÁNH VÀ ĐÁNH GIÁ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445135"/>
            <a:ext cx="10972800" cy="539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100" spc="-1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Linear Regression dẫn đầu trên bộ kiểm thử</a:t>
            </a:r>
            <a:endParaRPr lang="en-US" sz="3200" dirty="0"/>
          </a:p>
        </p:txBody>
      </p:sp>
      <p:sp>
        <p:nvSpPr>
          <p:cNvPr id="147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609600" y="969645"/>
          <a:ext cx="11184890" cy="4700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270"/>
                <a:gridCol w="1271270"/>
                <a:gridCol w="1271270"/>
                <a:gridCol w="1460500"/>
                <a:gridCol w="1372235"/>
                <a:gridCol w="1259840"/>
                <a:gridCol w="1360805"/>
                <a:gridCol w="1917700"/>
              </a:tblGrid>
              <a:tr h="1191895"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Model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</a:t>
                      </a:r>
                      <a:r>
                        <a:rPr lang="en-US" altLang="zh-CN" sz="2000" i="0" baseline="3000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_test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</a:t>
                      </a:r>
                      <a:r>
                        <a:rPr lang="en-US" altLang="zh-CN" sz="2000" i="0" baseline="3000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_train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RMSE_test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MAE_test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Train vs Test 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Thời gian dự đoán (ms/mẫu)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bg1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Kích thước file (KB)</a:t>
                      </a:r>
                      <a:endParaRPr lang="en-US" altLang="zh-CN" sz="2000" i="0">
                        <a:solidFill>
                          <a:schemeClr val="bg1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01675"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Linear Regression</a:t>
                      </a:r>
                      <a:endParaRPr lang="en-US" altLang="zh-CN" sz="2000" i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0.8212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0.7952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0.0679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0.048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-0.026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0.008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0.64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01675"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Random Forest</a:t>
                      </a:r>
                      <a:endParaRPr lang="en-US" altLang="zh-CN" sz="2000" i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0.8079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0.9634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0.0704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0.0498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0.1555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0.624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2449.13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01675"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Gradient Boosting</a:t>
                      </a:r>
                      <a:endParaRPr lang="en-US" altLang="zh-CN" sz="2000" i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0.7958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0.9202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0.0726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0.0501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0.1244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0.137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132.93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01675"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SVR</a:t>
                      </a:r>
                      <a:endParaRPr lang="en-US" altLang="zh-CN" sz="2000" i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0.7598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0.7563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0.0788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0.0648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-0.0034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0.038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5.4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  <a:tr h="701675">
                <a:tc>
                  <a:txBody>
                    <a:bodyPr/>
                    <a:p>
                      <a:pPr marL="0" indent="0" algn="l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i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KNN</a:t>
                      </a:r>
                      <a:endParaRPr lang="en-US" altLang="zh-CN" sz="2000" i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0.756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0.8309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0.0794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0.0542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0.0749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0.099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5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43.43</a:t>
                      </a:r>
                      <a:endParaRPr lang="en-US" altLang="zh-CN" sz="2500" i="0">
                        <a:solidFill>
                          <a:srgbClr val="00000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LỰA CHỌN MÔ HÌNH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Chọn Linear Regression cho phiên bản triển khai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800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R² cao nhất: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0.821208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0.004617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RMSE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0.067949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MAE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0.047957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đều thấp nhất.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Đơn giản, nhanh, dễ kiểm tra và dễ giải thích với người dùng.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Phù hợp mục tiêu sản phẩm: chất lượng tốt cùng chi phí vận hành thấp.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49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48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TRADE-OFF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14616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Random Forest vẫn là phương án dự phòng khi cần bắt quan hệ phi tuyến, nhưng điểm test hiện tại chưa vượt baseline.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778385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Quyết định dựa trên cả metric và khả năng vận hành, không chỉ một con số.</a:t>
            </a:r>
            <a:endParaRPr lang="en-US" sz="1600" dirty="0"/>
          </a:p>
        </p:txBody>
      </p:sp>
      <p:sp>
        <p:nvSpPr>
          <p:cNvPr id="150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TRIỂN KHAI HỆ THỐNG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Từ notebook đến dịch vụ có thể vận hành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8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Tiền xử lý, huấn luyện và đánh giá model.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Đóng gói model thành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model.joblib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cùng hợp đồng trường trong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schema.json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Tách frontend, backend API và AI service.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Kiểm tra healthcheck, request_id và hợp đồng lỗi.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Chạy toàn bộ bằng Docker Compose; chia sẻ qua ngrok/localtunnel khi cần.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52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51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ĐIỂM BÀN GIAO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Notebook → artifact → API contract → container → endpoint có thể gọi.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16248" y="2047560"/>
            <a:ext cx="1275723" cy="36576"/>
          </a:xfrm>
          <a:prstGeom prst="roundRect">
            <a:avLst>
              <a:gd name="adj" fmla="val 49999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7716248" y="2358456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Mỗi lớp tách riêng để thay model hoặc giao diện mà không phá toàn bộ hệ thống.</a:t>
            </a:r>
            <a:endParaRPr lang="en-US" sz="1600" dirty="0"/>
          </a:p>
        </p:txBody>
      </p:sp>
      <p:sp>
        <p:nvSpPr>
          <p:cNvPr id="153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PRODUCT · OVERVIEW APP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Ứng dụng web biến dự đoán thành một thao tác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8809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Nhập GRE, TOEFL, University Rating, SOP, LOR, CGPA và Research.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Frontend (cổng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3000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gửi request đến server API.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Backend (cổng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8000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xác thực payload, gọi AI service.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service (cổng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8001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trả prediction.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UI hiển thị xác suất, trạng thái và request_id.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55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54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TRẢI NGHIỆM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730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Một form rõ ràng, một thao tác submit, một response có thể truy vết.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047560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App product hóa mô hình nhưng không che giấu hợp đồng API phía sau.</a:t>
            </a:r>
            <a:endParaRPr lang="en-US" sz="1600" dirty="0"/>
          </a:p>
        </p:txBody>
      </p:sp>
      <p:sp>
        <p:nvSpPr>
          <p:cNvPr id="156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PRODUCT · DOCKER COMPOSE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Khởi chạy đồng bộ bằng một lệnh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3654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22222"/>
                </a:solidFill>
                <a:highlight>
                  <a:srgbClr val="EAF1F5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docker compose up --build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787894"/>
            <a:ext cx="5430404" cy="31656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Compose khởi chạy frontend 3000, backend 8000 và ai-service 8001.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depends_on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quy định quan hệ khởi động giữa các service.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healthcheck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giúp backend chỉ gọi AI service khi sẵn sàng.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model.joblib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và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schema.json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được mount hoặc đóng gói cùng AI service.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58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57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7" name="Text 5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VẬN HÀNH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16248" y="1042415"/>
            <a:ext cx="3869000" cy="1096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Thay vì chạy thủ công nhiều terminal, một lệnh tái tạo cùng topology dịch vụ.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16248" y="2412972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Khi cần expose ra ngoài: dùng ngrok hoặc localtunnel cho frontend/API.</a:t>
            </a:r>
            <a:endParaRPr lang="en-US" sz="1600" dirty="0"/>
          </a:p>
        </p:txBody>
      </p:sp>
      <p:sp>
        <p:nvSpPr>
          <p:cNvPr id="159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PRODUCT · API SERVER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Server API chịu trách nhiệm giao tiếp với ứng dụng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28002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Endpoint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/api/predict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nhận payload từ frontend và kiểm tra schema.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Tạo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request_id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để truy vết từng lần dự đoán.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Gọi AI service, chuẩn hóa response và trả lỗi có cấu trúc.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Cung cấp healthcheck để kiểm tra trạng thái dịch vụ.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61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60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1096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Success: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prediction + request_id.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Error: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mã lỗi + message + request_id.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412972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Backend là lớp bảo vệ giao diện trước dữ liệu sai và lỗi nội bộ.</a:t>
            </a:r>
            <a:endParaRPr lang="en-US" sz="1600" dirty="0"/>
          </a:p>
        </p:txBody>
      </p:sp>
      <p:sp>
        <p:nvSpPr>
          <p:cNvPr id="162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039989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PRODUCT · API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959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service tải model và trả về dự đoán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148162"/>
            <a:ext cx="5430404" cy="3611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Load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model.joblib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khi service khởi động.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Dùng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schema.json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để kiểm tra tên trường và kiểu dữ liệu.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Nhận 7 đặc trưng: GRE, TOEFL, University Rating, SOP, LOR, CGPA, Research.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Endpoint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/predict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phục vụ dự đoán;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/health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báo sẵn sàng; </a:t>
            </a:r>
            <a:r>
              <a:rPr lang="en-US" sz="2000" b="1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/model-info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mô tả model.</a:t>
            </a:r>
            <a:endParaRPr lang="en-US" sz="2000" dirty="0"/>
          </a:p>
          <a:p>
            <a:pPr marL="325120" indent="-325120" algn="l">
              <a:lnSpc>
                <a:spcPct val="117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Trả prediction cùng request_id; lỗi model hoặc dữ liệu theo error contract.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64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63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4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TÁCH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6248" y="1042415"/>
            <a:ext cx="3869000" cy="10962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 service không phụ thuộc giao diện; có thể thay artifact sau khi kiểm tra schema.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16248" y="2412972"/>
            <a:ext cx="3869000" cy="5396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 endpoint phục vụ prediction, quan sát sức khỏe và thông tin model.</a:t>
            </a:r>
            <a:endParaRPr lang="en-US" sz="1600" dirty="0"/>
          </a:p>
        </p:txBody>
      </p:sp>
      <p:sp>
        <p:nvSpPr>
          <p:cNvPr id="165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648"/>
            <a:ext cx="6431198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spc="78" dirty="0">
                <a:solidFill>
                  <a:srgbClr val="1F4E7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PRODUCT · KẾT NỐI 3 CỔNG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914400"/>
            <a:ext cx="5430404" cy="4797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b="1" kern="100" spc="-15" dirty="0">
                <a:solidFill>
                  <a:srgbClr val="1111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 dịch vụ, một luồng dự đoán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609585" y="1668441"/>
          <a:ext cx="5430404" cy="2834640"/>
        </p:xfrm>
        <a:graphic>
          <a:graphicData uri="http://schemas.openxmlformats.org/drawingml/2006/table">
            <a:tbl>
              <a:tblPr/>
              <a:tblGrid>
                <a:gridCol w="1280160"/>
                <a:gridCol w="4150244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Cổng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Vai trò và endpoint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3000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Frontend: form nhập và hiển thị kết quả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8000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Backend: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/api/predict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, validation, request_id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8001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AI service: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/predict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/health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,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/model-info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; model.joblib, schema.json</a:t>
                      </a:r>
                      <a:endParaRPr lang="en-US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06663" y="0"/>
            <a:ext cx="5085337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167" name="Ring"/>
          <p:cNvSpPr/>
          <p:nvPr/>
        </p:nvSpPr>
        <p:spPr>
          <a:xfrm>
            <a:off x="8460611" y="4480560"/>
            <a:ext cx="2377440" cy="2377440"/>
          </a:xfrm>
          <a:prstGeom prst="ellipse">
            <a:avLst/>
          </a:prstGeom>
          <a:noFill/>
          <a:ln w="15875">
            <a:solidFill>
              <a:srgbClr val="FFFFFF">
                <a:alpha val="16000"/>
              </a:srgbClr>
            </a:solidFill>
          </a:ln>
        </p:spPr>
      </p:sp>
      <p:sp>
        <p:nvSpPr>
          <p:cNvPr id="166" name="Ring"/>
          <p:cNvSpPr/>
          <p:nvPr/>
        </p:nvSpPr>
        <p:spPr>
          <a:xfrm>
            <a:off x="8872091" y="4892040"/>
            <a:ext cx="1554480" cy="1554480"/>
          </a:xfrm>
          <a:prstGeom prst="ellipse">
            <a:avLst/>
          </a:prstGeom>
          <a:noFill/>
          <a:ln w="15875">
            <a:solidFill>
              <a:srgbClr val="FFFFFF">
                <a:alpha val="26000"/>
              </a:srgbClr>
            </a:solidFill>
          </a:ln>
        </p:spPr>
      </p:sp>
      <p:sp>
        <p:nvSpPr>
          <p:cNvPr id="6" name="Text 3"/>
          <p:cNvSpPr/>
          <p:nvPr/>
        </p:nvSpPr>
        <p:spPr>
          <a:xfrm>
            <a:off x="7716248" y="612648"/>
            <a:ext cx="4475447" cy="274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78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LUỒNG REQUEST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16248" y="1042415"/>
            <a:ext cx="3869000" cy="17039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Frontend → Backend → AI service → Backend → Frontend</a:t>
            </a:r>
            <a:endParaRPr lang="en-US" sz="20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Success: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prediction + request_id. 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Error: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code + message + request_id.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16248" y="3020701"/>
            <a:ext cx="3869000" cy="8095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kern="100" spc="14" dirty="0">
                <a:solidFill>
                  <a:srgbClr val="C9DBE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healthcheck và depends_on giúp luồng ổn định; ngrok/localtunnel hỗ trợ expose khi demo.</a:t>
            </a:r>
            <a:endParaRPr lang="en-US" sz="1600" dirty="0"/>
          </a:p>
        </p:txBody>
      </p:sp>
      <p:sp>
        <p:nvSpPr>
          <p:cNvPr id="168" name="SlideNumber"/>
          <p:cNvSpPr txBox="1"/>
          <p:nvPr/>
        </p:nvSpPr>
        <p:spPr>
          <a:xfrm>
            <a:off x="609585" y="6263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fld id="{B6F15528-21DE-4FAA-801E-634DDDAF4B2B}" type="slidenum">
              <a:rPr lang="en-US" sz="1200" dirty="0">
                <a:solidFill>
                  <a:srgbClr val="7A87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fld>
            <a:endParaRPr lang="en-US" sz="1200" dirty="0">
              <a:solidFill>
                <a:srgbClr val="7A87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00*331"/>
  <p:tag name="TABLE_ENDDRAG_RECT" val="63*139*800*33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10377</Words>
  <Application>WPS Presentation</Application>
  <PresentationFormat>On-screen Show (16:9)</PresentationFormat>
  <Paragraphs>466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Thanh</cp:lastModifiedBy>
  <cp:revision>7</cp:revision>
  <dcterms:created xsi:type="dcterms:W3CDTF">2026-10-02T21:06:00Z</dcterms:created>
  <dcterms:modified xsi:type="dcterms:W3CDTF">2026-10-04T21:46:55Z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DCFC51AC8C4F47B59DB949907F4657BC_13</vt:lpwstr>
  </property>
  <property fmtid="{D5CDD505-2E9C-101B-9397-08002B2CF9AE}" pid="3" name="KSOProductBuildVer">
    <vt:lpwstr>1033-12.1.0.28485</vt:lpwstr>
  </property>
</Properties>
</file>